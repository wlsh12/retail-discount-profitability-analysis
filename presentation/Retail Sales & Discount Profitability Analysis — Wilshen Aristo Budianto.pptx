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retail_slide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retail_slide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portfolio case uses the supplied Superstore CSV and PostgreSQL script. The business decision is where to review discount policy. All final amounts use unrounded CSV values before aggregation and display rounding. This is descriptive analysis, not an experiment.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retail_slide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retail_slide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Business context is a decision framing for this portfolio, not a claim about a real retailer's current policy. Furniture has 2,201 sales lines, sales 754,747.7613 and profit 19,729.9956, giving 2.6141228% aggregate margin.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retail_slide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retail_slide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Use sales lines for row counts and unique orders only for distinct Order ID counts. Never average row-level margins to obtain group margin. SQL uses NULLIF to protect division by zero. No causal effect or experiment is estimated.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retail_slide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retail_slide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Independent recalculation from CSV, not an execution against the user's database. CSV contains 21 fields, 10,194 rows, 5,111 unique Order IDs, no missing source values, no duplicated rows or Row IDs. Dates parse with MM/DD/YYYY; 3 Jan 2023 to 30 Dec 2026. The supplied SQL creates a typed view and does not remove outliers. The CSV includes United States and Canada. Reconciliation, reported DBeaver -&gt; CSV: Furniture sales 754747.74 -&gt; 754747.76; profit 19730.02 -&gt; 19730.00. Tables sales 208020.15 -&gt; 208020.18; profit -17753.20 -&gt; -17753.21. Bookcases sales 115361.22 -&gt; 115361.20; profit -3632.07 unchanged. Furniture discount profits: 59477 -&gt; 59476.99; 15209.30 -&gt; 15209.29; -29365.36 and -25590.92 unchanged. East Tables sales 39926.13 -&gt; 39926.15; profit -11086.15 unchanged. East discounted sales 39860.62 -&gt; 39860.64; profit -11116.89 unchanged. Three no-discount lines yield 30.74 unchanged. Counts and stated two-decimal margins agree. Cause of discrepancies is unverified.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retail_slide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retail_slide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Exact category values appear in labels. Total sales 2,326,534.3543 and profit 292,296.8146. Furniture sales share 32.441%, profit share 6.750%. Bars show Sales in blue and Profit in teal on a common 0–900,000 scale, dataset units. Category margin is aggregate profit divided by aggregate sales.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retail_slide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retail_slide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Screenshot evidence added from the user's DBeaver session. Screenshot is unaltered and displays the database's own results; narrative and chart figures retain verified CSV totals. Minor decimal discrepancies are not evidence of a different substantive conclusion. Their cause has not been confirmed.</a:t>
            </a:r>
            <a:endParaRPr/>
          </a:p>
          <a:p>
            <a:pPr indent="0" lvl="0" marL="0" rtl="0" algn="l">
              <a:spcBef>
                <a:spcPts val="0"/>
              </a:spcBef>
              <a:spcAft>
                <a:spcPts val="0"/>
              </a:spcAft>
              <a:buNone/>
            </a:pPr>
            <a:r>
              <a:rPr lang="en-GB"/>
              <a:t>Chairs profit 27,223.5323; Furnishings 13,891.7430; Bookcases -3,632.0736; Tables -17,753.2061. Combined loss -21,385.2797, against positive profit 41,115.2753. Table sales 208,020.1820; Bookcases sales 115,361.2043. Aggregate subcategory margins are -8.53437% and -3.14844%.</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retail_slide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retail_slide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Discount definitions follow SQL: 0%; greater than 0 through 20%; greater than 20 through 40%; above 40%. Actual discounts are nonnegative. Profit by group: 59,476.9872; 15,209.2941; -29,365.3614; -25,590.9243. Higher discounts may correlate with product mix or other conditions. No experimental assignment, p-values or causal estimate are present.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retail_slide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retail_slide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Screenshot evidence added from the user's DBeaver session. Screenshot is unaltered and displays the database's own results; narrative and chart figures retain verified CSV totals. Minor decimal discrepancies are not evidence of a different substantive conclusion. Their cause has not been confirmed.</a:t>
            </a:r>
            <a:endParaRPr/>
          </a:p>
          <a:p>
            <a:pPr indent="0" lvl="0" marL="0" rtl="0" algn="l">
              <a:spcBef>
                <a:spcPts val="0"/>
              </a:spcBef>
              <a:spcAft>
                <a:spcPts val="0"/>
              </a:spcAft>
              <a:buNone/>
            </a:pPr>
            <a:r>
              <a:rPr lang="en-GB"/>
              <a:t>Profit and sales by subgroup at full CSV precision: [{"Sub-Category":"Bookcases","group":"0%","lines":60,"sales":31935.98,"profit":6075.7117,"margin":19.024660273459588},{"Sub-Category":"Bookcases","group":"&gt;0–20%","lines":100,"sales":54736.6375,"profit":1587.5796999999989,"margin":2.900396832012195},{"Sub-Category":"Bookcases","group":"&gt;20–40%","lines":37,"sales":18776.1568,"profit":-2947.0103000000004,"margin":-15.695492594096788},{"Sub-Category":"Bookcases","group":"&gt;40%","lines":35,"sales":9912.43,"profit":-8348.3547,"margin":-84.22107091802917},{"Sub-Category":"Tables","group":"0%","lines":76,"sales":71706.23,"profit":13334.9247,"margin":18.596605483233468},{"Sub-Category":"Tables","group":"&gt;0–20%","lines":72,"sales":45636.582,"profit":-298.3980000000008,"margin":-0.6538570307478347},{"Sub-Category":"Tables","group":"&gt;20–40%","lines":131,"sales":71517.386,"profit":-19681.2344,"margin":-27.51951029082635},{"Sub-Category":"Tables","group":"&gt;40%","lines":47,"sales":19159.984,"profit":-11108.4984,"margin":-57.97759747607305}]. Negative Tables profit at &gt;0–20% means the descriptive pattern does not justify a universal safe discount cap. Review price and cost at product level.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retail_slide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retail_slide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Regional sales, profit, margin and line counts: [{"Sub-Category":"Bookcases","Region":"Central","lines":50,"sales":24157.1768,"profit":-1997.9043000000004,"margin":-8.270437876664463},{"Sub-Category":"Bookcases","Region":"East","lines":72,"sales":43963.922,"profit":-1365.2354000000007,"margin":-3.105353976380908},{"Sub-Category":"Bookcases","Region":"South","lines":28,"sales":10899.362,"profit":1339.4918,"margin":12.289634934595256},{"Sub-Category":"Bookcases","Region":"West","lines":82,"sales":36340.7435,"profit":-1608.4257000000002,"margin":-4.425957052859968},{"Sub-Category":"Tables","Region":"Central","lines":72,"sales":39154.971,"profit":-3559.6504,"margin":-9.091183849938236},{"Sub-Category":"Tables","Region":"East","lines":85,"sales":39926.147,"profit":-11086.1471,"margin":-27.766633980484016},{"Sub-Category":"Tables","Region":"South","lines":51,"sales":43916.192,"profit":-4623.0579,"margin":-10.527000838324051},{"Sub-Category":"Tables","Region":"West","lines":118,"sales":85022.872,"profit":1515.6492999999994,"margin":1.7826371473313667}]. The largest loss among the eight combinations is East Tables: -11,086.1471. This is 62.45% of Tables' net loss, a ratio to net rather than gross losses. Regional names follow the dataset.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retail_slide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retail_slid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Screenshot evidence added from the user's DBeaver session. Screenshot is unaltered and displays the database's own results; narrative and chart figures retain verified CSV totals. Minor decimal discrepancies are not evidence of a different substantive conclusion. Their cause has not been confirmed.</a:t>
            </a:r>
            <a:endParaRPr/>
          </a:p>
          <a:p>
            <a:pPr indent="0" lvl="0" marL="0" rtl="0" algn="l">
              <a:spcBef>
                <a:spcPts val="0"/>
              </a:spcBef>
              <a:spcAft>
                <a:spcPts val="0"/>
              </a:spcAft>
              <a:buNone/>
            </a:pPr>
            <a:r>
              <a:rPr lang="en-GB"/>
              <a:t>East Tables has 85 lines. 82/85 = 96.4706%. Discounted sales 39,860.637 / East Tables sales 39,926.147 = 99.8359%. Three no-discount lines total 65.51 sales and 30.743 profit. The sample is very small and product mix is uncontrolled. Do not claim removing discounts would recover the observed losses.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retail_slide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retail_slide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Suggested validation plan: first reconcile imported database values against full CSV precision. Obtain list prices, unit costs, freight and returns treatment, discount eligibility, and actual reporting cut-off. Review like-for-like product and regional composition where sufficient records exist. Before the next promotion, commercial owners assess margin exposure and exceptions. Then monitor sales, aggregate margin, total profit and count of loss-making lines descriptively. There is no A/B test, p-value or causal promise. The file contains no standalone price/cost or profit accounting definition sufficient to validate underlying unit economics.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retail_slide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retail_slide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Key takeaway: Furniture generates substantial sales but weak aggregate margin. Tables and Bookcases reduce category profit. East Tables has the largest regional loss among these two subcategories, with 82 of 85 lines discounted &gt;20–40%. The evidence supports prioritizing a review, not claiming discounts caused losses. Visual storytelling was inspired by the supplied Anggita Gloria portfolio, without reusing its brand, wording, figures or experiment.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2A3E"/>
        </a:solidFill>
      </p:bgPr>
    </p:bg>
    <p:spTree>
      <p:nvGrpSpPr>
        <p:cNvPr id="53" name="Shape 53"/>
        <p:cNvGrpSpPr/>
        <p:nvPr/>
      </p:nvGrpSpPr>
      <p:grpSpPr>
        <a:xfrm>
          <a:off x="0" y="0"/>
          <a:ext cx="0" cy="0"/>
          <a:chOff x="0" y="0"/>
          <a:chExt cx="0" cy="0"/>
        </a:xfrm>
      </p:grpSpPr>
      <p:sp>
        <p:nvSpPr>
          <p:cNvPr id="54" name="Google Shape;54;p13"/>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BDD0E8"/>
                </a:solidFill>
              </a:rPr>
              <a:t>01</a:t>
            </a:r>
            <a:endParaRPr sz="900">
              <a:solidFill>
                <a:srgbClr val="BDD0E8"/>
              </a:solidFill>
            </a:endParaRPr>
          </a:p>
        </p:txBody>
      </p:sp>
      <p:sp>
        <p:nvSpPr>
          <p:cNvPr id="55" name="Google Shape;55;p13"/>
          <p:cNvSpPr/>
          <p:nvPr/>
        </p:nvSpPr>
        <p:spPr>
          <a:xfrm>
            <a:off x="469900" y="558800"/>
            <a:ext cx="77469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200">
                <a:solidFill>
                  <a:srgbClr val="BDD0E8"/>
                </a:solidFill>
              </a:rPr>
              <a:t>DATA ANALYTICS PORTFOLIO</a:t>
            </a:r>
            <a:endParaRPr b="1" sz="1200">
              <a:solidFill>
                <a:srgbClr val="BDD0E8"/>
              </a:solidFill>
            </a:endParaRPr>
          </a:p>
        </p:txBody>
      </p:sp>
      <p:sp>
        <p:nvSpPr>
          <p:cNvPr id="56" name="Google Shape;56;p13"/>
          <p:cNvSpPr/>
          <p:nvPr/>
        </p:nvSpPr>
        <p:spPr>
          <a:xfrm>
            <a:off x="457200" y="1295400"/>
            <a:ext cx="8255100" cy="20955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3900">
                <a:solidFill>
                  <a:srgbClr val="FFFFFF"/>
                </a:solidFill>
              </a:rPr>
              <a:t>Retail Sales &amp;</a:t>
            </a:r>
            <a:endParaRPr b="1" sz="3900">
              <a:solidFill>
                <a:srgbClr val="FFFFFF"/>
              </a:solidFill>
            </a:endParaRPr>
          </a:p>
          <a:p>
            <a:pPr indent="0" lvl="0" marL="0" rtl="0" algn="l">
              <a:lnSpc>
                <a:spcPct val="112000"/>
              </a:lnSpc>
              <a:spcBef>
                <a:spcPts val="0"/>
              </a:spcBef>
              <a:spcAft>
                <a:spcPts val="0"/>
              </a:spcAft>
              <a:buNone/>
            </a:pPr>
            <a:r>
              <a:rPr b="1" lang="en-GB" sz="3900">
                <a:solidFill>
                  <a:srgbClr val="FFFFFF"/>
                </a:solidFill>
              </a:rPr>
              <a:t>Discount Profitability</a:t>
            </a:r>
            <a:endParaRPr b="1" sz="3900">
              <a:solidFill>
                <a:srgbClr val="FFFFFF"/>
              </a:solidFill>
            </a:endParaRPr>
          </a:p>
          <a:p>
            <a:pPr indent="0" lvl="0" marL="0" rtl="0" algn="l">
              <a:lnSpc>
                <a:spcPct val="112000"/>
              </a:lnSpc>
              <a:spcBef>
                <a:spcPts val="0"/>
              </a:spcBef>
              <a:spcAft>
                <a:spcPts val="0"/>
              </a:spcAft>
              <a:buNone/>
            </a:pPr>
            <a:r>
              <a:rPr b="1" lang="en-GB" sz="3900">
                <a:solidFill>
                  <a:srgbClr val="FFFFFF"/>
                </a:solidFill>
              </a:rPr>
              <a:t>Analysis</a:t>
            </a:r>
            <a:endParaRPr b="1" sz="3900">
              <a:solidFill>
                <a:srgbClr val="FFFFFF"/>
              </a:solidFill>
            </a:endParaRPr>
          </a:p>
        </p:txBody>
      </p:sp>
      <p:sp>
        <p:nvSpPr>
          <p:cNvPr id="57" name="Google Shape;57;p13"/>
          <p:cNvSpPr/>
          <p:nvPr/>
        </p:nvSpPr>
        <p:spPr>
          <a:xfrm>
            <a:off x="495300" y="3606800"/>
            <a:ext cx="7937400" cy="6732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700">
                <a:solidFill>
                  <a:srgbClr val="BDD0E8"/>
                </a:solidFill>
              </a:rPr>
              <a:t>Furniture earns a 2.61% margin.</a:t>
            </a:r>
            <a:endParaRPr sz="1700">
              <a:solidFill>
                <a:srgbClr val="BDD0E8"/>
              </a:solidFill>
            </a:endParaRPr>
          </a:p>
          <a:p>
            <a:pPr indent="0" lvl="0" marL="0" rtl="0" algn="l">
              <a:lnSpc>
                <a:spcPct val="112000"/>
              </a:lnSpc>
              <a:spcBef>
                <a:spcPts val="0"/>
              </a:spcBef>
              <a:spcAft>
                <a:spcPts val="0"/>
              </a:spcAft>
              <a:buNone/>
            </a:pPr>
            <a:r>
              <a:rPr lang="en-GB" sz="1700">
                <a:solidFill>
                  <a:srgbClr val="BDD0E8"/>
                </a:solidFill>
              </a:rPr>
              <a:t>East Tables are the first priority for review.</a:t>
            </a:r>
            <a:endParaRPr sz="1700">
              <a:solidFill>
                <a:srgbClr val="BDD0E8"/>
              </a:solidFill>
            </a:endParaRPr>
          </a:p>
        </p:txBody>
      </p:sp>
      <p:sp>
        <p:nvSpPr>
          <p:cNvPr id="58" name="Google Shape;58;p13"/>
          <p:cNvSpPr/>
          <p:nvPr/>
        </p:nvSpPr>
        <p:spPr>
          <a:xfrm>
            <a:off x="495300" y="4483100"/>
            <a:ext cx="7493100" cy="2922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FFFFFF"/>
                </a:solidFill>
              </a:rPr>
              <a:t>Wilshen Aristo Budianto</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2" name="Shape 62"/>
        <p:cNvGrpSpPr/>
        <p:nvPr/>
      </p:nvGrpSpPr>
      <p:grpSpPr>
        <a:xfrm>
          <a:off x="0" y="0"/>
          <a:ext cx="0" cy="0"/>
          <a:chOff x="0" y="0"/>
          <a:chExt cx="0" cy="0"/>
        </a:xfrm>
      </p:grpSpPr>
      <p:sp>
        <p:nvSpPr>
          <p:cNvPr id="63" name="Google Shape;63;p14"/>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Furniture sales are substantial,</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but profit is thin</a:t>
            </a:r>
            <a:endParaRPr b="1" sz="2700">
              <a:solidFill>
                <a:srgbClr val="182A3E"/>
              </a:solidFill>
            </a:endParaRPr>
          </a:p>
        </p:txBody>
      </p:sp>
      <p:sp>
        <p:nvSpPr>
          <p:cNvPr id="64" name="Google Shape;64;p14"/>
          <p:cNvSpPr/>
          <p:nvPr/>
        </p:nvSpPr>
        <p:spPr>
          <a:xfrm>
            <a:off x="406400" y="1282700"/>
            <a:ext cx="8331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Business context and the decision for merchandising and finance</a:t>
            </a:r>
            <a:endParaRPr sz="1200">
              <a:solidFill>
                <a:srgbClr val="5D6C7C"/>
              </a:solidFill>
            </a:endParaRPr>
          </a:p>
        </p:txBody>
      </p:sp>
      <p:sp>
        <p:nvSpPr>
          <p:cNvPr id="65" name="Google Shape;65;p14"/>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02</a:t>
            </a:r>
            <a:endParaRPr sz="900">
              <a:solidFill>
                <a:srgbClr val="5D6C7C"/>
              </a:solidFill>
            </a:endParaRPr>
          </a:p>
        </p:txBody>
      </p:sp>
      <p:sp>
        <p:nvSpPr>
          <p:cNvPr id="66" name="Google Shape;66;p14"/>
          <p:cNvSpPr/>
          <p:nvPr/>
        </p:nvSpPr>
        <p:spPr>
          <a:xfrm>
            <a:off x="431800" y="1955800"/>
            <a:ext cx="5079900" cy="7365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3900">
                <a:solidFill>
                  <a:srgbClr val="3975C6"/>
                </a:solidFill>
              </a:rPr>
              <a:t>754,747.76</a:t>
            </a:r>
            <a:endParaRPr b="1" sz="3900">
              <a:solidFill>
                <a:srgbClr val="3975C6"/>
              </a:solidFill>
            </a:endParaRPr>
          </a:p>
        </p:txBody>
      </p:sp>
      <p:sp>
        <p:nvSpPr>
          <p:cNvPr id="67" name="Google Shape;67;p14"/>
          <p:cNvSpPr/>
          <p:nvPr/>
        </p:nvSpPr>
        <p:spPr>
          <a:xfrm>
            <a:off x="482600" y="2679700"/>
            <a:ext cx="4572000" cy="304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5D6C7C"/>
                </a:solidFill>
              </a:rPr>
              <a:t>Furniture sales</a:t>
            </a:r>
            <a:endParaRPr>
              <a:solidFill>
                <a:srgbClr val="5D6C7C"/>
              </a:solidFill>
            </a:endParaRPr>
          </a:p>
        </p:txBody>
      </p:sp>
      <p:sp>
        <p:nvSpPr>
          <p:cNvPr id="68" name="Google Shape;68;p14"/>
          <p:cNvSpPr/>
          <p:nvPr/>
        </p:nvSpPr>
        <p:spPr>
          <a:xfrm>
            <a:off x="431800" y="3276600"/>
            <a:ext cx="5079900" cy="698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3400">
                <a:solidFill>
                  <a:srgbClr val="182A3E"/>
                </a:solidFill>
              </a:rPr>
              <a:t>19,730.00</a:t>
            </a:r>
            <a:endParaRPr b="1" sz="3400">
              <a:solidFill>
                <a:srgbClr val="182A3E"/>
              </a:solidFill>
            </a:endParaRPr>
          </a:p>
        </p:txBody>
      </p:sp>
      <p:sp>
        <p:nvSpPr>
          <p:cNvPr id="69" name="Google Shape;69;p14"/>
          <p:cNvSpPr/>
          <p:nvPr/>
        </p:nvSpPr>
        <p:spPr>
          <a:xfrm>
            <a:off x="482600" y="3962400"/>
            <a:ext cx="44451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5D6C7C"/>
                </a:solidFill>
              </a:rPr>
              <a:t>Furniture profit</a:t>
            </a:r>
            <a:endParaRPr>
              <a:solidFill>
                <a:srgbClr val="5D6C7C"/>
              </a:solidFill>
            </a:endParaRPr>
          </a:p>
        </p:txBody>
      </p:sp>
      <p:sp>
        <p:nvSpPr>
          <p:cNvPr id="70" name="Google Shape;70;p14"/>
          <p:cNvSpPr/>
          <p:nvPr/>
        </p:nvSpPr>
        <p:spPr>
          <a:xfrm>
            <a:off x="5676900" y="1943100"/>
            <a:ext cx="2857500" cy="342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800">
                <a:solidFill>
                  <a:srgbClr val="182A3E"/>
                </a:solidFill>
              </a:rPr>
              <a:t>The decision</a:t>
            </a:r>
            <a:endParaRPr b="1" sz="1800">
              <a:solidFill>
                <a:srgbClr val="182A3E"/>
              </a:solidFill>
            </a:endParaRPr>
          </a:p>
        </p:txBody>
      </p:sp>
      <p:sp>
        <p:nvSpPr>
          <p:cNvPr id="71" name="Google Shape;71;p14"/>
          <p:cNvSpPr/>
          <p:nvPr/>
        </p:nvSpPr>
        <p:spPr>
          <a:xfrm>
            <a:off x="5676900" y="2438400"/>
            <a:ext cx="2857500" cy="1308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800">
                <a:solidFill>
                  <a:srgbClr val="182A3E"/>
                </a:solidFill>
              </a:rPr>
              <a:t>Which products and regions need a pricing and discount review before the next promotion?</a:t>
            </a:r>
            <a:endParaRPr sz="1800">
              <a:solidFill>
                <a:srgbClr val="182A3E"/>
              </a:solidFill>
            </a:endParaRPr>
          </a:p>
        </p:txBody>
      </p:sp>
      <p:sp>
        <p:nvSpPr>
          <p:cNvPr id="72" name="Google Shape;72;p14"/>
          <p:cNvSpPr/>
          <p:nvPr/>
        </p:nvSpPr>
        <p:spPr>
          <a:xfrm>
            <a:off x="5676900" y="3975100"/>
            <a:ext cx="2857500" cy="533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100">
                <a:solidFill>
                  <a:srgbClr val="5D6C7C"/>
                </a:solidFill>
              </a:rPr>
              <a:t>Portfolio case based on supplied retail sales records.</a:t>
            </a:r>
            <a:endParaRPr sz="1100">
              <a:solidFill>
                <a:srgbClr val="5D6C7C"/>
              </a:solidFill>
            </a:endParaRPr>
          </a:p>
        </p:txBody>
      </p:sp>
      <p:sp>
        <p:nvSpPr>
          <p:cNvPr id="73" name="Google Shape;73;p14"/>
          <p:cNvSpPr/>
          <p:nvPr/>
        </p:nvSpPr>
        <p:spPr>
          <a:xfrm>
            <a:off x="406400" y="4775200"/>
            <a:ext cx="7874100" cy="22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830">
                <a:solidFill>
                  <a:srgbClr val="5D6C7C"/>
                </a:solidFill>
              </a:rPr>
              <a:t>Source: samplesuperstore(2).csv; supplied SQL aggregation logic. Amounts in dataset units.</a:t>
            </a:r>
            <a:endParaRPr sz="830">
              <a:solidFill>
                <a:srgbClr val="5D6C7C"/>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7" name="Shape 77"/>
        <p:cNvGrpSpPr/>
        <p:nvPr/>
      </p:nvGrpSpPr>
      <p:grpSpPr>
        <a:xfrm>
          <a:off x="0" y="0"/>
          <a:ext cx="0" cy="0"/>
          <a:chOff x="0" y="0"/>
          <a:chExt cx="0" cy="0"/>
        </a:xfrm>
      </p:grpSpPr>
      <p:sp>
        <p:nvSpPr>
          <p:cNvPr id="78" name="Google Shape;78;p15"/>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Sales, profit and margin identify</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where discount policies need review</a:t>
            </a:r>
            <a:endParaRPr b="1" sz="2700">
              <a:solidFill>
                <a:srgbClr val="182A3E"/>
              </a:solidFill>
            </a:endParaRPr>
          </a:p>
        </p:txBody>
      </p:sp>
      <p:sp>
        <p:nvSpPr>
          <p:cNvPr id="79" name="Google Shape;79;p15"/>
          <p:cNvSpPr/>
          <p:nvPr/>
        </p:nvSpPr>
        <p:spPr>
          <a:xfrm>
            <a:off x="406400" y="1282700"/>
            <a:ext cx="8331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Scope: all records, followed by Furniture, Tables and Bookcases</a:t>
            </a:r>
            <a:endParaRPr sz="1200">
              <a:solidFill>
                <a:srgbClr val="5D6C7C"/>
              </a:solidFill>
            </a:endParaRPr>
          </a:p>
        </p:txBody>
      </p:sp>
      <p:sp>
        <p:nvSpPr>
          <p:cNvPr id="80" name="Google Shape;80;p15"/>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03</a:t>
            </a:r>
            <a:endParaRPr sz="900">
              <a:solidFill>
                <a:srgbClr val="5D6C7C"/>
              </a:solidFill>
            </a:endParaRPr>
          </a:p>
        </p:txBody>
      </p:sp>
      <p:sp>
        <p:nvSpPr>
          <p:cNvPr id="81" name="Google Shape;81;p15"/>
          <p:cNvSpPr/>
          <p:nvPr/>
        </p:nvSpPr>
        <p:spPr>
          <a:xfrm>
            <a:off x="431800" y="1841500"/>
            <a:ext cx="24129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500">
                <a:solidFill>
                  <a:srgbClr val="3975C6"/>
                </a:solidFill>
              </a:rPr>
              <a:t>Business question</a:t>
            </a:r>
            <a:endParaRPr b="1" sz="1500">
              <a:solidFill>
                <a:srgbClr val="3975C6"/>
              </a:solidFill>
            </a:endParaRPr>
          </a:p>
        </p:txBody>
      </p:sp>
      <p:sp>
        <p:nvSpPr>
          <p:cNvPr id="82" name="Google Shape;82;p15"/>
          <p:cNvSpPr/>
          <p:nvPr/>
        </p:nvSpPr>
        <p:spPr>
          <a:xfrm>
            <a:off x="431800" y="2286000"/>
            <a:ext cx="3683100" cy="1905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100">
                <a:solidFill>
                  <a:srgbClr val="182A3E"/>
                </a:solidFill>
              </a:rPr>
              <a:t>Which product categories generate strong sales but weak profit, and where should discount policies be reviewed?</a:t>
            </a:r>
            <a:endParaRPr b="1" sz="2100">
              <a:solidFill>
                <a:srgbClr val="182A3E"/>
              </a:solidFill>
            </a:endParaRPr>
          </a:p>
        </p:txBody>
      </p:sp>
      <p:sp>
        <p:nvSpPr>
          <p:cNvPr id="83" name="Google Shape;83;p15"/>
          <p:cNvSpPr/>
          <p:nvPr/>
        </p:nvSpPr>
        <p:spPr>
          <a:xfrm>
            <a:off x="4622800" y="1854200"/>
            <a:ext cx="4089300" cy="2209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500">
                <a:solidFill>
                  <a:srgbClr val="182A3E"/>
                </a:solidFill>
              </a:rPr>
              <a:t>Sales = SUM(sales)</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Profit = SUM(profit)</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Margin = SUM(profit) / SUM(sales) × 100</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Sales lines = COUNT(*)</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Unique orders = COUNT(DISTINCT order_id)</a:t>
            </a:r>
            <a:endParaRPr sz="1500">
              <a:solidFill>
                <a:srgbClr val="182A3E"/>
              </a:solidFill>
            </a:endParaRPr>
          </a:p>
        </p:txBody>
      </p:sp>
      <p:sp>
        <p:nvSpPr>
          <p:cNvPr id="84" name="Google Shape;84;p15"/>
          <p:cNvSpPr/>
          <p:nvPr/>
        </p:nvSpPr>
        <p:spPr>
          <a:xfrm>
            <a:off x="4622800" y="4064000"/>
            <a:ext cx="4013100" cy="507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Compare category, subcategory, discount group and region. Margins use aggregate totals.</a:t>
            </a:r>
            <a:endParaRPr sz="1200">
              <a:solidFill>
                <a:srgbClr val="5D6C7C"/>
              </a:solidFill>
            </a:endParaRPr>
          </a:p>
        </p:txBody>
      </p:sp>
      <p:sp>
        <p:nvSpPr>
          <p:cNvPr id="85" name="Google Shape;85;p15"/>
          <p:cNvSpPr/>
          <p:nvPr/>
        </p:nvSpPr>
        <p:spPr>
          <a:xfrm>
            <a:off x="406400" y="4775200"/>
            <a:ext cx="7874100" cy="22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830">
                <a:solidFill>
                  <a:srgbClr val="5D6C7C"/>
                </a:solidFill>
              </a:rPr>
              <a:t>Source: samplesuperstore(2).csv; supplied SQL aggregation logic. Amounts in dataset units.</a:t>
            </a:r>
            <a:endParaRPr sz="830">
              <a:solidFill>
                <a:srgbClr val="5D6C7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9" name="Shape 89"/>
        <p:cNvGrpSpPr/>
        <p:nvPr/>
      </p:nvGrpSpPr>
      <p:grpSpPr>
        <a:xfrm>
          <a:off x="0" y="0"/>
          <a:ext cx="0" cy="0"/>
          <a:chOff x="0" y="0"/>
          <a:chExt cx="0" cy="0"/>
        </a:xfrm>
      </p:grpSpPr>
      <p:sp>
        <p:nvSpPr>
          <p:cNvPr id="90" name="Google Shape;90;p16"/>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10,194 sales lines represent</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5,111 unique orders</a:t>
            </a:r>
            <a:endParaRPr b="1" sz="2700">
              <a:solidFill>
                <a:srgbClr val="182A3E"/>
              </a:solidFill>
            </a:endParaRPr>
          </a:p>
        </p:txBody>
      </p:sp>
      <p:sp>
        <p:nvSpPr>
          <p:cNvPr id="91" name="Google Shape;91;p16"/>
          <p:cNvSpPr/>
          <p:nvPr/>
        </p:nvSpPr>
        <p:spPr>
          <a:xfrm>
            <a:off x="406400" y="1282700"/>
            <a:ext cx="8331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Data preparation preserves source precision and all records</a:t>
            </a:r>
            <a:endParaRPr sz="1200">
              <a:solidFill>
                <a:srgbClr val="5D6C7C"/>
              </a:solidFill>
            </a:endParaRPr>
          </a:p>
        </p:txBody>
      </p:sp>
      <p:sp>
        <p:nvSpPr>
          <p:cNvPr id="92" name="Google Shape;92;p16"/>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04</a:t>
            </a:r>
            <a:endParaRPr sz="900">
              <a:solidFill>
                <a:srgbClr val="5D6C7C"/>
              </a:solidFill>
            </a:endParaRPr>
          </a:p>
        </p:txBody>
      </p:sp>
      <p:sp>
        <p:nvSpPr>
          <p:cNvPr id="93" name="Google Shape;93;p16"/>
          <p:cNvSpPr/>
          <p:nvPr/>
        </p:nvSpPr>
        <p:spPr>
          <a:xfrm>
            <a:off x="431800" y="1803400"/>
            <a:ext cx="2921100" cy="6732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3500">
                <a:solidFill>
                  <a:srgbClr val="3975C6"/>
                </a:solidFill>
              </a:rPr>
              <a:t>10,194</a:t>
            </a:r>
            <a:endParaRPr b="1" sz="3500">
              <a:solidFill>
                <a:srgbClr val="3975C6"/>
              </a:solidFill>
            </a:endParaRPr>
          </a:p>
        </p:txBody>
      </p:sp>
      <p:sp>
        <p:nvSpPr>
          <p:cNvPr id="94" name="Google Shape;94;p16"/>
          <p:cNvSpPr/>
          <p:nvPr/>
        </p:nvSpPr>
        <p:spPr>
          <a:xfrm>
            <a:off x="482600" y="2489200"/>
            <a:ext cx="29211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182A3E"/>
                </a:solidFill>
              </a:rPr>
              <a:t>sales lines retained</a:t>
            </a:r>
            <a:endParaRPr>
              <a:solidFill>
                <a:srgbClr val="182A3E"/>
              </a:solidFill>
            </a:endParaRPr>
          </a:p>
        </p:txBody>
      </p:sp>
      <p:sp>
        <p:nvSpPr>
          <p:cNvPr id="95" name="Google Shape;95;p16"/>
          <p:cNvSpPr/>
          <p:nvPr/>
        </p:nvSpPr>
        <p:spPr>
          <a:xfrm>
            <a:off x="431800" y="3175000"/>
            <a:ext cx="1143000" cy="609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3200">
                <a:solidFill>
                  <a:srgbClr val="247F77"/>
                </a:solidFill>
              </a:rPr>
              <a:t>0</a:t>
            </a:r>
            <a:endParaRPr b="1" sz="3200">
              <a:solidFill>
                <a:srgbClr val="247F77"/>
              </a:solidFill>
            </a:endParaRPr>
          </a:p>
        </p:txBody>
      </p:sp>
      <p:sp>
        <p:nvSpPr>
          <p:cNvPr id="96" name="Google Shape;96;p16"/>
          <p:cNvSpPr/>
          <p:nvPr/>
        </p:nvSpPr>
        <p:spPr>
          <a:xfrm>
            <a:off x="1270000" y="3213100"/>
            <a:ext cx="2717700" cy="6732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182A3E"/>
                </a:solidFill>
              </a:rPr>
              <a:t>duplicate Row IDs</a:t>
            </a:r>
            <a:endParaRPr>
              <a:solidFill>
                <a:srgbClr val="182A3E"/>
              </a:solidFill>
            </a:endParaRPr>
          </a:p>
          <a:p>
            <a:pPr indent="0" lvl="0" marL="0" rtl="0" algn="l">
              <a:lnSpc>
                <a:spcPct val="112000"/>
              </a:lnSpc>
              <a:spcBef>
                <a:spcPts val="0"/>
              </a:spcBef>
              <a:spcAft>
                <a:spcPts val="0"/>
              </a:spcAft>
              <a:buNone/>
            </a:pPr>
            <a:r>
              <a:rPr lang="en-GB">
                <a:solidFill>
                  <a:srgbClr val="182A3E"/>
                </a:solidFill>
              </a:rPr>
              <a:t>or missing source values</a:t>
            </a:r>
            <a:endParaRPr>
              <a:solidFill>
                <a:srgbClr val="182A3E"/>
              </a:solidFill>
            </a:endParaRPr>
          </a:p>
        </p:txBody>
      </p:sp>
      <p:sp>
        <p:nvSpPr>
          <p:cNvPr id="97" name="Google Shape;97;p16"/>
          <p:cNvSpPr/>
          <p:nvPr/>
        </p:nvSpPr>
        <p:spPr>
          <a:xfrm>
            <a:off x="4584700" y="1778000"/>
            <a:ext cx="40005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700">
                <a:solidFill>
                  <a:srgbClr val="182A3E"/>
                </a:solidFill>
              </a:rPr>
              <a:t>PostgreSQL workflow</a:t>
            </a:r>
            <a:endParaRPr b="1" sz="1700">
              <a:solidFill>
                <a:srgbClr val="182A3E"/>
              </a:solidFill>
            </a:endParaRPr>
          </a:p>
        </p:txBody>
      </p:sp>
      <p:sp>
        <p:nvSpPr>
          <p:cNvPr id="98" name="Google Shape;98;p16"/>
          <p:cNvSpPr/>
          <p:nvPr/>
        </p:nvSpPr>
        <p:spPr>
          <a:xfrm>
            <a:off x="4584700" y="2286000"/>
            <a:ext cx="4026000" cy="1587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500">
                <a:solidFill>
                  <a:srgbClr val="182A3E"/>
                </a:solidFill>
              </a:rPr>
              <a:t>Parse Order Date and Ship Date.</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Cast Sales, Profit and Discount to numeric.</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Create public.superstore_clean.</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Aggregate using the supplied SQL groups.</a:t>
            </a:r>
            <a:endParaRPr sz="1500">
              <a:solidFill>
                <a:srgbClr val="182A3E"/>
              </a:solidFill>
            </a:endParaRPr>
          </a:p>
        </p:txBody>
      </p:sp>
      <p:sp>
        <p:nvSpPr>
          <p:cNvPr id="99" name="Google Shape;99;p16"/>
          <p:cNvSpPr/>
          <p:nvPr/>
        </p:nvSpPr>
        <p:spPr>
          <a:xfrm>
            <a:off x="4584700" y="3937000"/>
            <a:ext cx="4127400" cy="6858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100">
                <a:solidFill>
                  <a:srgbClr val="5D6C7C"/>
                </a:solidFill>
              </a:rPr>
              <a:t>Source period: 3 Jan 2023–30 Dec 2026.</a:t>
            </a:r>
            <a:endParaRPr sz="1100">
              <a:solidFill>
                <a:srgbClr val="5D6C7C"/>
              </a:solidFill>
            </a:endParaRPr>
          </a:p>
          <a:p>
            <a:pPr indent="0" lvl="0" marL="0" rtl="0" algn="l">
              <a:lnSpc>
                <a:spcPct val="112000"/>
              </a:lnSpc>
              <a:spcBef>
                <a:spcPts val="0"/>
              </a:spcBef>
              <a:spcAft>
                <a:spcPts val="0"/>
              </a:spcAft>
              <a:buNone/>
            </a:pPr>
            <a:r>
              <a:rPr lang="en-GB" sz="1100">
                <a:solidFill>
                  <a:srgbClr val="5D6C7C"/>
                </a:solidFill>
              </a:rPr>
              <a:t>Includes future-dated records relative to Sep 2026.</a:t>
            </a:r>
            <a:endParaRPr sz="1100">
              <a:solidFill>
                <a:srgbClr val="5D6C7C"/>
              </a:solidFill>
            </a:endParaRPr>
          </a:p>
          <a:p>
            <a:pPr indent="0" lvl="0" marL="0" rtl="0" algn="l">
              <a:lnSpc>
                <a:spcPct val="112000"/>
              </a:lnSpc>
              <a:spcBef>
                <a:spcPts val="0"/>
              </a:spcBef>
              <a:spcAft>
                <a:spcPts val="0"/>
              </a:spcAft>
              <a:buNone/>
            </a:pPr>
            <a:r>
              <a:rPr lang="en-GB" sz="1100">
                <a:solidFill>
                  <a:srgbClr val="5D6C7C"/>
                </a:solidFill>
              </a:rPr>
              <a:t>Currency is unspecified. No outlier rows removed.</a:t>
            </a:r>
            <a:endParaRPr sz="1100">
              <a:solidFill>
                <a:srgbClr val="5D6C7C"/>
              </a:solidFill>
            </a:endParaRPr>
          </a:p>
        </p:txBody>
      </p:sp>
      <p:sp>
        <p:nvSpPr>
          <p:cNvPr id="100" name="Google Shape;100;p16"/>
          <p:cNvSpPr/>
          <p:nvPr/>
        </p:nvSpPr>
        <p:spPr>
          <a:xfrm>
            <a:off x="406400" y="4775200"/>
            <a:ext cx="7874100" cy="22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830">
                <a:solidFill>
                  <a:srgbClr val="5D6C7C"/>
                </a:solidFill>
              </a:rPr>
              <a:t>Source: supplied CSV and SQL. CSV recheck found small differences from the reported DBeaver totals.</a:t>
            </a:r>
            <a:endParaRPr sz="830">
              <a:solidFill>
                <a:srgbClr val="5D6C7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4" name="Shape 104"/>
        <p:cNvGrpSpPr/>
        <p:nvPr/>
      </p:nvGrpSpPr>
      <p:grpSpPr>
        <a:xfrm>
          <a:off x="0" y="0"/>
          <a:ext cx="0" cy="0"/>
          <a:chOff x="0" y="0"/>
          <a:chExt cx="0" cy="0"/>
        </a:xfrm>
      </p:grpSpPr>
      <p:sp>
        <p:nvSpPr>
          <p:cNvPr id="105" name="Google Shape;105;p17"/>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Furniture has 32.44% of sales,</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but only 6.75% of profit</a:t>
            </a:r>
            <a:endParaRPr b="1" sz="2700">
              <a:solidFill>
                <a:srgbClr val="182A3E"/>
              </a:solidFill>
            </a:endParaRPr>
          </a:p>
        </p:txBody>
      </p:sp>
      <p:sp>
        <p:nvSpPr>
          <p:cNvPr id="106" name="Google Shape;106;p17"/>
          <p:cNvSpPr/>
          <p:nvPr/>
        </p:nvSpPr>
        <p:spPr>
          <a:xfrm>
            <a:off x="406400" y="1282700"/>
            <a:ext cx="8331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Category comparison: sales and profit share the same scale</a:t>
            </a:r>
            <a:endParaRPr sz="1200">
              <a:solidFill>
                <a:srgbClr val="5D6C7C"/>
              </a:solidFill>
            </a:endParaRPr>
          </a:p>
        </p:txBody>
      </p:sp>
      <p:sp>
        <p:nvSpPr>
          <p:cNvPr id="107" name="Google Shape;107;p17"/>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05</a:t>
            </a:r>
            <a:endParaRPr sz="900">
              <a:solidFill>
                <a:srgbClr val="5D6C7C"/>
              </a:solidFill>
            </a:endParaRPr>
          </a:p>
        </p:txBody>
      </p:sp>
      <p:sp>
        <p:nvSpPr>
          <p:cNvPr id="108" name="Google Shape;108;p17"/>
          <p:cNvSpPr/>
          <p:nvPr/>
        </p:nvSpPr>
        <p:spPr>
          <a:xfrm>
            <a:off x="5778500" y="1612900"/>
            <a:ext cx="863700" cy="2793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100">
                <a:solidFill>
                  <a:srgbClr val="3975C6"/>
                </a:solidFill>
              </a:rPr>
              <a:t>Sales</a:t>
            </a:r>
            <a:endParaRPr b="1" sz="1100">
              <a:solidFill>
                <a:srgbClr val="3975C6"/>
              </a:solidFill>
            </a:endParaRPr>
          </a:p>
        </p:txBody>
      </p:sp>
      <p:sp>
        <p:nvSpPr>
          <p:cNvPr id="109" name="Google Shape;109;p17"/>
          <p:cNvSpPr/>
          <p:nvPr/>
        </p:nvSpPr>
        <p:spPr>
          <a:xfrm>
            <a:off x="6832600" y="1612900"/>
            <a:ext cx="850800" cy="2793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100">
                <a:solidFill>
                  <a:srgbClr val="247F77"/>
                </a:solidFill>
              </a:rPr>
              <a:t>Profit</a:t>
            </a:r>
            <a:endParaRPr b="1" sz="1100">
              <a:solidFill>
                <a:srgbClr val="247F77"/>
              </a:solidFill>
            </a:endParaRPr>
          </a:p>
        </p:txBody>
      </p:sp>
      <p:sp>
        <p:nvSpPr>
          <p:cNvPr id="110" name="Google Shape;110;p17"/>
          <p:cNvSpPr/>
          <p:nvPr/>
        </p:nvSpPr>
        <p:spPr>
          <a:xfrm>
            <a:off x="7785100" y="1612900"/>
            <a:ext cx="888900" cy="2793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100">
                <a:solidFill>
                  <a:srgbClr val="5D6C7C"/>
                </a:solidFill>
              </a:rPr>
              <a:t>Margin</a:t>
            </a:r>
            <a:endParaRPr b="1" sz="1100">
              <a:solidFill>
                <a:srgbClr val="5D6C7C"/>
              </a:solidFill>
            </a:endParaRPr>
          </a:p>
        </p:txBody>
      </p:sp>
      <p:sp>
        <p:nvSpPr>
          <p:cNvPr id="111" name="Google Shape;111;p17"/>
          <p:cNvSpPr/>
          <p:nvPr/>
        </p:nvSpPr>
        <p:spPr>
          <a:xfrm>
            <a:off x="419100" y="2146300"/>
            <a:ext cx="1803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a:solidFill>
                  <a:srgbClr val="182A3E"/>
                </a:solidFill>
              </a:rPr>
              <a:t>Technology</a:t>
            </a:r>
            <a:endParaRPr b="1">
              <a:solidFill>
                <a:srgbClr val="182A3E"/>
              </a:solidFill>
            </a:endParaRPr>
          </a:p>
        </p:txBody>
      </p:sp>
      <p:sp>
        <p:nvSpPr>
          <p:cNvPr id="112" name="Google Shape;112;p17"/>
          <p:cNvSpPr/>
          <p:nvPr/>
        </p:nvSpPr>
        <p:spPr>
          <a:xfrm>
            <a:off x="2324100" y="2082800"/>
            <a:ext cx="2903700" cy="190500"/>
          </a:xfrm>
          <a:prstGeom prst="rect">
            <a:avLst/>
          </a:prstGeom>
          <a:solidFill>
            <a:srgbClr val="397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7"/>
          <p:cNvSpPr/>
          <p:nvPr/>
        </p:nvSpPr>
        <p:spPr>
          <a:xfrm>
            <a:off x="2324100" y="2362200"/>
            <a:ext cx="506700" cy="1905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7"/>
          <p:cNvSpPr/>
          <p:nvPr/>
        </p:nvSpPr>
        <p:spPr>
          <a:xfrm>
            <a:off x="5562600" y="2057400"/>
            <a:ext cx="11556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1100">
                <a:solidFill>
                  <a:srgbClr val="182A3E"/>
                </a:solidFill>
              </a:rPr>
              <a:t>839,893.28</a:t>
            </a:r>
            <a:endParaRPr sz="1100">
              <a:solidFill>
                <a:srgbClr val="182A3E"/>
              </a:solidFill>
            </a:endParaRPr>
          </a:p>
        </p:txBody>
      </p:sp>
      <p:sp>
        <p:nvSpPr>
          <p:cNvPr id="115" name="Google Shape;115;p17"/>
          <p:cNvSpPr/>
          <p:nvPr/>
        </p:nvSpPr>
        <p:spPr>
          <a:xfrm>
            <a:off x="6705600" y="2057400"/>
            <a:ext cx="10668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1100">
                <a:solidFill>
                  <a:srgbClr val="182A3E"/>
                </a:solidFill>
              </a:rPr>
              <a:t>146,543.38</a:t>
            </a:r>
            <a:endParaRPr sz="1100">
              <a:solidFill>
                <a:srgbClr val="182A3E"/>
              </a:solidFill>
            </a:endParaRPr>
          </a:p>
        </p:txBody>
      </p:sp>
      <p:sp>
        <p:nvSpPr>
          <p:cNvPr id="116" name="Google Shape;116;p17"/>
          <p:cNvSpPr/>
          <p:nvPr/>
        </p:nvSpPr>
        <p:spPr>
          <a:xfrm>
            <a:off x="7810500" y="2057400"/>
            <a:ext cx="8763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182A3E"/>
                </a:solidFill>
              </a:rPr>
              <a:t>17.45%</a:t>
            </a:r>
            <a:endParaRPr b="1" sz="1200">
              <a:solidFill>
                <a:srgbClr val="182A3E"/>
              </a:solidFill>
            </a:endParaRPr>
          </a:p>
        </p:txBody>
      </p:sp>
      <p:sp>
        <p:nvSpPr>
          <p:cNvPr id="117" name="Google Shape;117;p17"/>
          <p:cNvSpPr/>
          <p:nvPr/>
        </p:nvSpPr>
        <p:spPr>
          <a:xfrm>
            <a:off x="419100" y="2959100"/>
            <a:ext cx="1803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a:solidFill>
                  <a:srgbClr val="182A3E"/>
                </a:solidFill>
              </a:rPr>
              <a:t>Furniture</a:t>
            </a:r>
            <a:endParaRPr b="1">
              <a:solidFill>
                <a:srgbClr val="182A3E"/>
              </a:solidFill>
            </a:endParaRPr>
          </a:p>
        </p:txBody>
      </p:sp>
      <p:sp>
        <p:nvSpPr>
          <p:cNvPr id="118" name="Google Shape;118;p17"/>
          <p:cNvSpPr/>
          <p:nvPr/>
        </p:nvSpPr>
        <p:spPr>
          <a:xfrm>
            <a:off x="2324100" y="2895600"/>
            <a:ext cx="2609400" cy="190500"/>
          </a:xfrm>
          <a:prstGeom prst="rect">
            <a:avLst/>
          </a:prstGeom>
          <a:solidFill>
            <a:srgbClr val="397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7"/>
          <p:cNvSpPr/>
          <p:nvPr/>
        </p:nvSpPr>
        <p:spPr>
          <a:xfrm>
            <a:off x="2324100" y="3175000"/>
            <a:ext cx="68100" cy="1905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7"/>
          <p:cNvSpPr/>
          <p:nvPr/>
        </p:nvSpPr>
        <p:spPr>
          <a:xfrm>
            <a:off x="5562600" y="2870200"/>
            <a:ext cx="11556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1100">
                <a:solidFill>
                  <a:srgbClr val="182A3E"/>
                </a:solidFill>
              </a:rPr>
              <a:t>754,747.76</a:t>
            </a:r>
            <a:endParaRPr sz="1100">
              <a:solidFill>
                <a:srgbClr val="182A3E"/>
              </a:solidFill>
            </a:endParaRPr>
          </a:p>
        </p:txBody>
      </p:sp>
      <p:sp>
        <p:nvSpPr>
          <p:cNvPr id="121" name="Google Shape;121;p17"/>
          <p:cNvSpPr/>
          <p:nvPr/>
        </p:nvSpPr>
        <p:spPr>
          <a:xfrm>
            <a:off x="6705600" y="2870200"/>
            <a:ext cx="10668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1100">
                <a:solidFill>
                  <a:srgbClr val="182A3E"/>
                </a:solidFill>
              </a:rPr>
              <a:t>19,730.00</a:t>
            </a:r>
            <a:endParaRPr sz="1100">
              <a:solidFill>
                <a:srgbClr val="182A3E"/>
              </a:solidFill>
            </a:endParaRPr>
          </a:p>
        </p:txBody>
      </p:sp>
      <p:sp>
        <p:nvSpPr>
          <p:cNvPr id="122" name="Google Shape;122;p17"/>
          <p:cNvSpPr/>
          <p:nvPr/>
        </p:nvSpPr>
        <p:spPr>
          <a:xfrm>
            <a:off x="7810500" y="2870200"/>
            <a:ext cx="8763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2.61%</a:t>
            </a:r>
            <a:endParaRPr b="1" sz="1200">
              <a:solidFill>
                <a:srgbClr val="B94E48"/>
              </a:solidFill>
            </a:endParaRPr>
          </a:p>
        </p:txBody>
      </p:sp>
      <p:sp>
        <p:nvSpPr>
          <p:cNvPr id="123" name="Google Shape;123;p17"/>
          <p:cNvSpPr/>
          <p:nvPr/>
        </p:nvSpPr>
        <p:spPr>
          <a:xfrm>
            <a:off x="419100" y="3771900"/>
            <a:ext cx="1803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a:solidFill>
                  <a:srgbClr val="182A3E"/>
                </a:solidFill>
              </a:rPr>
              <a:t>Office Supplies</a:t>
            </a:r>
            <a:endParaRPr b="1">
              <a:solidFill>
                <a:srgbClr val="182A3E"/>
              </a:solidFill>
            </a:endParaRPr>
          </a:p>
        </p:txBody>
      </p:sp>
      <p:sp>
        <p:nvSpPr>
          <p:cNvPr id="124" name="Google Shape;124;p17"/>
          <p:cNvSpPr/>
          <p:nvPr/>
        </p:nvSpPr>
        <p:spPr>
          <a:xfrm>
            <a:off x="2324100" y="3708400"/>
            <a:ext cx="2530200" cy="190500"/>
          </a:xfrm>
          <a:prstGeom prst="rect">
            <a:avLst/>
          </a:prstGeom>
          <a:solidFill>
            <a:srgbClr val="397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7"/>
          <p:cNvSpPr/>
          <p:nvPr/>
        </p:nvSpPr>
        <p:spPr>
          <a:xfrm>
            <a:off x="2324100" y="3987800"/>
            <a:ext cx="435600" cy="1905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7"/>
          <p:cNvSpPr/>
          <p:nvPr/>
        </p:nvSpPr>
        <p:spPr>
          <a:xfrm>
            <a:off x="5562600" y="3683000"/>
            <a:ext cx="11556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1100">
                <a:solidFill>
                  <a:srgbClr val="182A3E"/>
                </a:solidFill>
              </a:rPr>
              <a:t>731,893.31</a:t>
            </a:r>
            <a:endParaRPr sz="1100">
              <a:solidFill>
                <a:srgbClr val="182A3E"/>
              </a:solidFill>
            </a:endParaRPr>
          </a:p>
        </p:txBody>
      </p:sp>
      <p:sp>
        <p:nvSpPr>
          <p:cNvPr id="127" name="Google Shape;127;p17"/>
          <p:cNvSpPr/>
          <p:nvPr/>
        </p:nvSpPr>
        <p:spPr>
          <a:xfrm>
            <a:off x="6705600" y="3683000"/>
            <a:ext cx="10668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1100">
                <a:solidFill>
                  <a:srgbClr val="182A3E"/>
                </a:solidFill>
              </a:rPr>
              <a:t>126,023.44</a:t>
            </a:r>
            <a:endParaRPr sz="1100">
              <a:solidFill>
                <a:srgbClr val="182A3E"/>
              </a:solidFill>
            </a:endParaRPr>
          </a:p>
        </p:txBody>
      </p:sp>
      <p:sp>
        <p:nvSpPr>
          <p:cNvPr id="128" name="Google Shape;128;p17"/>
          <p:cNvSpPr/>
          <p:nvPr/>
        </p:nvSpPr>
        <p:spPr>
          <a:xfrm>
            <a:off x="7810500" y="3683000"/>
            <a:ext cx="8763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182A3E"/>
                </a:solidFill>
              </a:rPr>
              <a:t>17.22%</a:t>
            </a:r>
            <a:endParaRPr b="1" sz="1200">
              <a:solidFill>
                <a:srgbClr val="182A3E"/>
              </a:solidFill>
            </a:endParaRPr>
          </a:p>
        </p:txBody>
      </p:sp>
      <p:sp>
        <p:nvSpPr>
          <p:cNvPr id="129" name="Google Shape;129;p17"/>
          <p:cNvSpPr/>
          <p:nvPr/>
        </p:nvSpPr>
        <p:spPr>
          <a:xfrm>
            <a:off x="406400" y="4775200"/>
            <a:ext cx="7874100" cy="22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830">
                <a:solidFill>
                  <a:srgbClr val="5D6C7C"/>
                </a:solidFill>
              </a:rPr>
              <a:t>Source: samplesuperstore(2).csv; supplied SQL aggregation logic. Amounts in dataset units.</a:t>
            </a:r>
            <a:endParaRPr sz="830">
              <a:solidFill>
                <a:srgbClr val="5D6C7C"/>
              </a:solidFill>
            </a:endParaRPr>
          </a:p>
        </p:txBody>
      </p:sp>
      <p:sp>
        <p:nvSpPr>
          <p:cNvPr id="130" name="Google Shape;130;p17"/>
          <p:cNvSpPr txBox="1"/>
          <p:nvPr/>
        </p:nvSpPr>
        <p:spPr>
          <a:xfrm>
            <a:off x="1955800" y="4445000"/>
            <a:ext cx="7365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0</a:t>
            </a:r>
            <a:endParaRPr sz="800">
              <a:solidFill>
                <a:srgbClr val="5C6B7D"/>
              </a:solidFill>
            </a:endParaRPr>
          </a:p>
        </p:txBody>
      </p:sp>
      <p:sp>
        <p:nvSpPr>
          <p:cNvPr id="131" name="Google Shape;131;p17"/>
          <p:cNvSpPr txBox="1"/>
          <p:nvPr/>
        </p:nvSpPr>
        <p:spPr>
          <a:xfrm>
            <a:off x="3511550" y="4445000"/>
            <a:ext cx="7365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450,000</a:t>
            </a:r>
            <a:endParaRPr sz="800">
              <a:solidFill>
                <a:srgbClr val="5C6B7D"/>
              </a:solidFill>
            </a:endParaRPr>
          </a:p>
        </p:txBody>
      </p:sp>
      <p:sp>
        <p:nvSpPr>
          <p:cNvPr id="132" name="Google Shape;132;p17"/>
          <p:cNvSpPr txBox="1"/>
          <p:nvPr/>
        </p:nvSpPr>
        <p:spPr>
          <a:xfrm>
            <a:off x="5067300" y="4445000"/>
            <a:ext cx="7365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900,000</a:t>
            </a:r>
            <a:endParaRPr sz="800">
              <a:solidFill>
                <a:srgbClr val="5C6B7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6" name="Shape 136"/>
        <p:cNvGrpSpPr/>
        <p:nvPr/>
      </p:nvGrpSpPr>
      <p:grpSpPr>
        <a:xfrm>
          <a:off x="0" y="0"/>
          <a:ext cx="0" cy="0"/>
          <a:chOff x="0" y="0"/>
          <a:chExt cx="0" cy="0"/>
        </a:xfrm>
      </p:grpSpPr>
      <p:sp>
        <p:nvSpPr>
          <p:cNvPr id="137" name="Google Shape;137;p18"/>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Tables and Bookcases reduce</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Furniture profit by 21,385.28</a:t>
            </a:r>
            <a:endParaRPr b="1" sz="2700">
              <a:solidFill>
                <a:srgbClr val="182A3E"/>
              </a:solidFill>
            </a:endParaRPr>
          </a:p>
        </p:txBody>
      </p:sp>
      <p:sp>
        <p:nvSpPr>
          <p:cNvPr id="138" name="Google Shape;138;p18"/>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06</a:t>
            </a:r>
            <a:endParaRPr sz="900">
              <a:solidFill>
                <a:srgbClr val="5D6C7C"/>
              </a:solidFill>
            </a:endParaRPr>
          </a:p>
        </p:txBody>
      </p:sp>
      <p:pic>
        <p:nvPicPr>
          <p:cNvPr id="139" name="Google Shape;139;p18"/>
          <p:cNvPicPr preferRelativeResize="0"/>
          <p:nvPr/>
        </p:nvPicPr>
        <p:blipFill>
          <a:blip r:embed="rId3">
            <a:alphaModFix/>
          </a:blip>
          <a:stretch>
            <a:fillRect/>
          </a:stretch>
        </p:blipFill>
        <p:spPr>
          <a:xfrm>
            <a:off x="355600" y="1739900"/>
            <a:ext cx="5651502" cy="2892563"/>
          </a:xfrm>
          <a:prstGeom prst="rect">
            <a:avLst/>
          </a:prstGeom>
          <a:noFill/>
          <a:ln>
            <a:noFill/>
          </a:ln>
        </p:spPr>
      </p:pic>
      <p:sp>
        <p:nvSpPr>
          <p:cNvPr id="140" name="Google Shape;140;p18"/>
          <p:cNvSpPr txBox="1"/>
          <p:nvPr/>
        </p:nvSpPr>
        <p:spPr>
          <a:xfrm>
            <a:off x="406400" y="1270000"/>
            <a:ext cx="83184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5D6C7C"/>
                </a:solidFill>
              </a:rPr>
              <a:t>SQL groups Furniture sales lines by subcategory and calculates aggregate margins.</a:t>
            </a:r>
            <a:endParaRPr sz="1200">
              <a:solidFill>
                <a:srgbClr val="5D6C7C"/>
              </a:solidFill>
            </a:endParaRPr>
          </a:p>
        </p:txBody>
      </p:sp>
      <p:sp>
        <p:nvSpPr>
          <p:cNvPr id="141" name="Google Shape;141;p18"/>
          <p:cNvSpPr txBox="1"/>
          <p:nvPr/>
        </p:nvSpPr>
        <p:spPr>
          <a:xfrm>
            <a:off x="6210300" y="1676400"/>
            <a:ext cx="25527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182A3E"/>
                </a:solidFill>
              </a:rPr>
              <a:t>Profit from CSV</a:t>
            </a:r>
            <a:endParaRPr b="1">
              <a:solidFill>
                <a:srgbClr val="182A3E"/>
              </a:solidFill>
            </a:endParaRPr>
          </a:p>
        </p:txBody>
      </p:sp>
      <p:sp>
        <p:nvSpPr>
          <p:cNvPr id="142" name="Google Shape;142;p18"/>
          <p:cNvSpPr txBox="1"/>
          <p:nvPr/>
        </p:nvSpPr>
        <p:spPr>
          <a:xfrm>
            <a:off x="6210300" y="2108200"/>
            <a:ext cx="1397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182A3E"/>
                </a:solidFill>
              </a:rPr>
              <a:t>Chairs</a:t>
            </a:r>
            <a:endParaRPr sz="1100">
              <a:solidFill>
                <a:srgbClr val="182A3E"/>
              </a:solidFill>
            </a:endParaRPr>
          </a:p>
        </p:txBody>
      </p:sp>
      <p:sp>
        <p:nvSpPr>
          <p:cNvPr id="143" name="Google Shape;143;p18"/>
          <p:cNvSpPr txBox="1"/>
          <p:nvPr/>
        </p:nvSpPr>
        <p:spPr>
          <a:xfrm>
            <a:off x="7480300" y="2108200"/>
            <a:ext cx="1320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247F77"/>
                </a:solidFill>
              </a:rPr>
              <a:t>27,223.53</a:t>
            </a:r>
            <a:endParaRPr b="1" sz="1100">
              <a:solidFill>
                <a:srgbClr val="247F77"/>
              </a:solidFill>
            </a:endParaRPr>
          </a:p>
        </p:txBody>
      </p:sp>
      <p:sp>
        <p:nvSpPr>
          <p:cNvPr id="144" name="Google Shape;144;p18"/>
          <p:cNvSpPr/>
          <p:nvPr/>
        </p:nvSpPr>
        <p:spPr>
          <a:xfrm>
            <a:off x="7175500" y="2413000"/>
            <a:ext cx="1244700" cy="1143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8"/>
          <p:cNvSpPr txBox="1"/>
          <p:nvPr/>
        </p:nvSpPr>
        <p:spPr>
          <a:xfrm>
            <a:off x="6210300" y="2667000"/>
            <a:ext cx="1397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182A3E"/>
                </a:solidFill>
              </a:rPr>
              <a:t>Furnishings</a:t>
            </a:r>
            <a:endParaRPr sz="1100">
              <a:solidFill>
                <a:srgbClr val="182A3E"/>
              </a:solidFill>
            </a:endParaRPr>
          </a:p>
        </p:txBody>
      </p:sp>
      <p:sp>
        <p:nvSpPr>
          <p:cNvPr id="146" name="Google Shape;146;p18"/>
          <p:cNvSpPr txBox="1"/>
          <p:nvPr/>
        </p:nvSpPr>
        <p:spPr>
          <a:xfrm>
            <a:off x="7480300" y="2667000"/>
            <a:ext cx="1320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247F77"/>
                </a:solidFill>
              </a:rPr>
              <a:t>13,891.74</a:t>
            </a:r>
            <a:endParaRPr b="1" sz="1100">
              <a:solidFill>
                <a:srgbClr val="247F77"/>
              </a:solidFill>
            </a:endParaRPr>
          </a:p>
        </p:txBody>
      </p:sp>
      <p:sp>
        <p:nvSpPr>
          <p:cNvPr id="147" name="Google Shape;147;p18"/>
          <p:cNvSpPr/>
          <p:nvPr/>
        </p:nvSpPr>
        <p:spPr>
          <a:xfrm>
            <a:off x="7175500" y="2971800"/>
            <a:ext cx="635100" cy="1143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8"/>
          <p:cNvSpPr txBox="1"/>
          <p:nvPr/>
        </p:nvSpPr>
        <p:spPr>
          <a:xfrm>
            <a:off x="6210300" y="3225800"/>
            <a:ext cx="1397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182A3E"/>
                </a:solidFill>
              </a:rPr>
              <a:t>Bookcases</a:t>
            </a:r>
            <a:endParaRPr sz="1100">
              <a:solidFill>
                <a:srgbClr val="182A3E"/>
              </a:solidFill>
            </a:endParaRPr>
          </a:p>
        </p:txBody>
      </p:sp>
      <p:sp>
        <p:nvSpPr>
          <p:cNvPr id="149" name="Google Shape;149;p18"/>
          <p:cNvSpPr txBox="1"/>
          <p:nvPr/>
        </p:nvSpPr>
        <p:spPr>
          <a:xfrm>
            <a:off x="7480300" y="3225800"/>
            <a:ext cx="1320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B94E48"/>
                </a:solidFill>
              </a:rPr>
              <a:t>-3,632.07</a:t>
            </a:r>
            <a:endParaRPr b="1" sz="1100">
              <a:solidFill>
                <a:srgbClr val="B94E48"/>
              </a:solidFill>
            </a:endParaRPr>
          </a:p>
        </p:txBody>
      </p:sp>
      <p:sp>
        <p:nvSpPr>
          <p:cNvPr id="150" name="Google Shape;150;p18"/>
          <p:cNvSpPr/>
          <p:nvPr/>
        </p:nvSpPr>
        <p:spPr>
          <a:xfrm>
            <a:off x="7009442" y="3530600"/>
            <a:ext cx="166200" cy="1143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8"/>
          <p:cNvSpPr txBox="1"/>
          <p:nvPr/>
        </p:nvSpPr>
        <p:spPr>
          <a:xfrm>
            <a:off x="6210300" y="3784600"/>
            <a:ext cx="1397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182A3E"/>
                </a:solidFill>
              </a:rPr>
              <a:t>Tables</a:t>
            </a:r>
            <a:endParaRPr sz="1100">
              <a:solidFill>
                <a:srgbClr val="182A3E"/>
              </a:solidFill>
            </a:endParaRPr>
          </a:p>
        </p:txBody>
      </p:sp>
      <p:sp>
        <p:nvSpPr>
          <p:cNvPr id="152" name="Google Shape;152;p18"/>
          <p:cNvSpPr txBox="1"/>
          <p:nvPr/>
        </p:nvSpPr>
        <p:spPr>
          <a:xfrm>
            <a:off x="7480300" y="3784600"/>
            <a:ext cx="1320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B94E48"/>
                </a:solidFill>
              </a:rPr>
              <a:t>-17,753.21</a:t>
            </a:r>
            <a:endParaRPr b="1" sz="1100">
              <a:solidFill>
                <a:srgbClr val="B94E48"/>
              </a:solidFill>
            </a:endParaRPr>
          </a:p>
        </p:txBody>
      </p:sp>
      <p:sp>
        <p:nvSpPr>
          <p:cNvPr id="153" name="Google Shape;153;p18"/>
          <p:cNvSpPr/>
          <p:nvPr/>
        </p:nvSpPr>
        <p:spPr>
          <a:xfrm>
            <a:off x="6363823" y="4089400"/>
            <a:ext cx="811800" cy="1143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8"/>
          <p:cNvSpPr txBox="1"/>
          <p:nvPr/>
        </p:nvSpPr>
        <p:spPr>
          <a:xfrm>
            <a:off x="6210300" y="4584700"/>
            <a:ext cx="25653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rgbClr val="5D6C7C"/>
                </a:solidFill>
              </a:rPr>
              <a:t>Profit, dataset units</a:t>
            </a:r>
            <a:endParaRPr sz="900">
              <a:solidFill>
                <a:srgbClr val="5D6C7C"/>
              </a:solidFill>
            </a:endParaRPr>
          </a:p>
        </p:txBody>
      </p:sp>
      <p:sp>
        <p:nvSpPr>
          <p:cNvPr id="155" name="Google Shape;155;p18"/>
          <p:cNvSpPr txBox="1"/>
          <p:nvPr/>
        </p:nvSpPr>
        <p:spPr>
          <a:xfrm>
            <a:off x="355600" y="4838700"/>
            <a:ext cx="7962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solidFill>
                  <a:srgbClr val="5D6C7C"/>
                </a:solidFill>
              </a:rPr>
              <a:t>Source: DBeaver screenshots + CSV. Small decimal differences remain; deck figures use CSV precision.</a:t>
            </a:r>
            <a:endParaRPr sz="800">
              <a:solidFill>
                <a:srgbClr val="5D6C7C"/>
              </a:solidFill>
            </a:endParaRPr>
          </a:p>
        </p:txBody>
      </p:sp>
      <p:sp>
        <p:nvSpPr>
          <p:cNvPr id="156" name="Google Shape;156;p18"/>
          <p:cNvSpPr txBox="1"/>
          <p:nvPr/>
        </p:nvSpPr>
        <p:spPr>
          <a:xfrm>
            <a:off x="6045200" y="4368800"/>
            <a:ext cx="4317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−20k</a:t>
            </a:r>
            <a:endParaRPr sz="800">
              <a:solidFill>
                <a:srgbClr val="5C6B7D"/>
              </a:solidFill>
            </a:endParaRPr>
          </a:p>
        </p:txBody>
      </p:sp>
      <p:sp>
        <p:nvSpPr>
          <p:cNvPr id="157" name="Google Shape;157;p18"/>
          <p:cNvSpPr txBox="1"/>
          <p:nvPr/>
        </p:nvSpPr>
        <p:spPr>
          <a:xfrm>
            <a:off x="6959600" y="4368800"/>
            <a:ext cx="4317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0</a:t>
            </a:r>
            <a:endParaRPr sz="800">
              <a:solidFill>
                <a:srgbClr val="5C6B7D"/>
              </a:solidFill>
            </a:endParaRPr>
          </a:p>
        </p:txBody>
      </p:sp>
      <p:sp>
        <p:nvSpPr>
          <p:cNvPr id="158" name="Google Shape;158;p18"/>
          <p:cNvSpPr txBox="1"/>
          <p:nvPr/>
        </p:nvSpPr>
        <p:spPr>
          <a:xfrm>
            <a:off x="8331200" y="4368800"/>
            <a:ext cx="4317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30k</a:t>
            </a:r>
            <a:endParaRPr sz="800">
              <a:solidFill>
                <a:srgbClr val="5C6B7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2" name="Shape 162"/>
        <p:cNvGrpSpPr/>
        <p:nvPr/>
      </p:nvGrpSpPr>
      <p:grpSpPr>
        <a:xfrm>
          <a:off x="0" y="0"/>
          <a:ext cx="0" cy="0"/>
          <a:chOff x="0" y="0"/>
          <a:chExt cx="0" cy="0"/>
        </a:xfrm>
      </p:grpSpPr>
      <p:sp>
        <p:nvSpPr>
          <p:cNvPr id="163" name="Google Shape;163;p19"/>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Furniture discounts above 20%</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coincide with 54,956.29 in losses</a:t>
            </a:r>
            <a:endParaRPr b="1" sz="2700">
              <a:solidFill>
                <a:srgbClr val="182A3E"/>
              </a:solidFill>
            </a:endParaRPr>
          </a:p>
        </p:txBody>
      </p:sp>
      <p:sp>
        <p:nvSpPr>
          <p:cNvPr id="164" name="Google Shape;164;p19"/>
          <p:cNvSpPr/>
          <p:nvPr/>
        </p:nvSpPr>
        <p:spPr>
          <a:xfrm>
            <a:off x="406400" y="1282700"/>
            <a:ext cx="8331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Observed groups differ in their product mix and sales-line counts</a:t>
            </a:r>
            <a:endParaRPr sz="1200">
              <a:solidFill>
                <a:srgbClr val="5D6C7C"/>
              </a:solidFill>
            </a:endParaRPr>
          </a:p>
        </p:txBody>
      </p:sp>
      <p:sp>
        <p:nvSpPr>
          <p:cNvPr id="165" name="Google Shape;165;p19"/>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07</a:t>
            </a:r>
            <a:endParaRPr sz="900">
              <a:solidFill>
                <a:srgbClr val="5D6C7C"/>
              </a:solidFill>
            </a:endParaRPr>
          </a:p>
        </p:txBody>
      </p:sp>
      <p:sp>
        <p:nvSpPr>
          <p:cNvPr id="166" name="Google Shape;166;p19"/>
          <p:cNvSpPr/>
          <p:nvPr/>
        </p:nvSpPr>
        <p:spPr>
          <a:xfrm>
            <a:off x="431800" y="1651000"/>
            <a:ext cx="8127900" cy="254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000">
                <a:solidFill>
                  <a:srgbClr val="5D6C7C"/>
                </a:solidFill>
              </a:rPr>
              <a:t>Profit, dataset units</a:t>
            </a:r>
            <a:endParaRPr sz="1000">
              <a:solidFill>
                <a:srgbClr val="5D6C7C"/>
              </a:solidFill>
            </a:endParaRPr>
          </a:p>
        </p:txBody>
      </p:sp>
      <p:sp>
        <p:nvSpPr>
          <p:cNvPr id="167" name="Google Shape;167;p19"/>
          <p:cNvSpPr/>
          <p:nvPr/>
        </p:nvSpPr>
        <p:spPr>
          <a:xfrm>
            <a:off x="3689350" y="1955800"/>
            <a:ext cx="9000" cy="1981200"/>
          </a:xfrm>
          <a:prstGeom prst="rect">
            <a:avLst/>
          </a:prstGeom>
          <a:solidFill>
            <a:srgbClr val="BCC7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9"/>
          <p:cNvSpPr/>
          <p:nvPr/>
        </p:nvSpPr>
        <p:spPr>
          <a:xfrm>
            <a:off x="431800" y="1968500"/>
            <a:ext cx="12573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0%</a:t>
            </a:r>
            <a:endParaRPr sz="1200">
              <a:solidFill>
                <a:srgbClr val="182A3E"/>
              </a:solidFill>
            </a:endParaRPr>
          </a:p>
        </p:txBody>
      </p:sp>
      <p:sp>
        <p:nvSpPr>
          <p:cNvPr id="169" name="Google Shape;169;p19"/>
          <p:cNvSpPr/>
          <p:nvPr/>
        </p:nvSpPr>
        <p:spPr>
          <a:xfrm>
            <a:off x="3689350" y="2019300"/>
            <a:ext cx="3248100" cy="1905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9"/>
          <p:cNvSpPr/>
          <p:nvPr/>
        </p:nvSpPr>
        <p:spPr>
          <a:xfrm>
            <a:off x="7277100" y="1943100"/>
            <a:ext cx="13209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182A3E"/>
                </a:solidFill>
              </a:rPr>
              <a:t>59,476.99</a:t>
            </a:r>
            <a:endParaRPr b="1" sz="1200">
              <a:solidFill>
                <a:srgbClr val="182A3E"/>
              </a:solidFill>
            </a:endParaRPr>
          </a:p>
        </p:txBody>
      </p:sp>
      <p:sp>
        <p:nvSpPr>
          <p:cNvPr id="171" name="Google Shape;171;p19"/>
          <p:cNvSpPr/>
          <p:nvPr/>
        </p:nvSpPr>
        <p:spPr>
          <a:xfrm>
            <a:off x="431800" y="2489200"/>
            <a:ext cx="12573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&gt;0–20%</a:t>
            </a:r>
            <a:endParaRPr sz="1200">
              <a:solidFill>
                <a:srgbClr val="182A3E"/>
              </a:solidFill>
            </a:endParaRPr>
          </a:p>
        </p:txBody>
      </p:sp>
      <p:sp>
        <p:nvSpPr>
          <p:cNvPr id="172" name="Google Shape;172;p19"/>
          <p:cNvSpPr/>
          <p:nvPr/>
        </p:nvSpPr>
        <p:spPr>
          <a:xfrm>
            <a:off x="3689350" y="2540000"/>
            <a:ext cx="830700" cy="1905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19"/>
          <p:cNvSpPr/>
          <p:nvPr/>
        </p:nvSpPr>
        <p:spPr>
          <a:xfrm>
            <a:off x="7277100" y="2463800"/>
            <a:ext cx="13209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182A3E"/>
                </a:solidFill>
              </a:rPr>
              <a:t>15,209.29</a:t>
            </a:r>
            <a:endParaRPr b="1" sz="1200">
              <a:solidFill>
                <a:srgbClr val="182A3E"/>
              </a:solidFill>
            </a:endParaRPr>
          </a:p>
        </p:txBody>
      </p:sp>
      <p:sp>
        <p:nvSpPr>
          <p:cNvPr id="174" name="Google Shape;174;p19"/>
          <p:cNvSpPr/>
          <p:nvPr/>
        </p:nvSpPr>
        <p:spPr>
          <a:xfrm>
            <a:off x="431800" y="3009900"/>
            <a:ext cx="12573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&gt;20–40%</a:t>
            </a:r>
            <a:endParaRPr sz="1200">
              <a:solidFill>
                <a:srgbClr val="182A3E"/>
              </a:solidFill>
            </a:endParaRPr>
          </a:p>
        </p:txBody>
      </p:sp>
      <p:sp>
        <p:nvSpPr>
          <p:cNvPr id="175" name="Google Shape;175;p19"/>
          <p:cNvSpPr/>
          <p:nvPr/>
        </p:nvSpPr>
        <p:spPr>
          <a:xfrm>
            <a:off x="2085708" y="3060700"/>
            <a:ext cx="16035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19"/>
          <p:cNvSpPr/>
          <p:nvPr/>
        </p:nvSpPr>
        <p:spPr>
          <a:xfrm>
            <a:off x="7277100" y="2984500"/>
            <a:ext cx="13209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-29,365.36</a:t>
            </a:r>
            <a:endParaRPr b="1" sz="1200">
              <a:solidFill>
                <a:srgbClr val="B94E48"/>
              </a:solidFill>
            </a:endParaRPr>
          </a:p>
        </p:txBody>
      </p:sp>
      <p:sp>
        <p:nvSpPr>
          <p:cNvPr id="177" name="Google Shape;177;p19"/>
          <p:cNvSpPr/>
          <p:nvPr/>
        </p:nvSpPr>
        <p:spPr>
          <a:xfrm>
            <a:off x="431800" y="3530600"/>
            <a:ext cx="12573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&gt;40%</a:t>
            </a:r>
            <a:endParaRPr sz="1200">
              <a:solidFill>
                <a:srgbClr val="182A3E"/>
              </a:solidFill>
            </a:endParaRPr>
          </a:p>
        </p:txBody>
      </p:sp>
      <p:sp>
        <p:nvSpPr>
          <p:cNvPr id="178" name="Google Shape;178;p19"/>
          <p:cNvSpPr/>
          <p:nvPr/>
        </p:nvSpPr>
        <p:spPr>
          <a:xfrm>
            <a:off x="2291830" y="3581400"/>
            <a:ext cx="13974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19"/>
          <p:cNvSpPr/>
          <p:nvPr/>
        </p:nvSpPr>
        <p:spPr>
          <a:xfrm>
            <a:off x="7277100" y="3505200"/>
            <a:ext cx="13209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-25,590.92</a:t>
            </a:r>
            <a:endParaRPr b="1" sz="1200">
              <a:solidFill>
                <a:srgbClr val="B94E48"/>
              </a:solidFill>
            </a:endParaRPr>
          </a:p>
        </p:txBody>
      </p:sp>
      <p:sp>
        <p:nvSpPr>
          <p:cNvPr id="180" name="Google Shape;180;p19"/>
          <p:cNvSpPr/>
          <p:nvPr/>
        </p:nvSpPr>
        <p:spPr>
          <a:xfrm>
            <a:off x="444500" y="4229100"/>
            <a:ext cx="8255100" cy="546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Sales lines by group: 880 / 766 / 326 / 229.</a:t>
            </a:r>
            <a:endParaRPr sz="1200">
              <a:solidFill>
                <a:srgbClr val="182A3E"/>
              </a:solidFill>
            </a:endParaRPr>
          </a:p>
          <a:p>
            <a:pPr indent="0" lvl="0" marL="0" rtl="0" algn="l">
              <a:lnSpc>
                <a:spcPct val="112000"/>
              </a:lnSpc>
              <a:spcBef>
                <a:spcPts val="0"/>
              </a:spcBef>
              <a:spcAft>
                <a:spcPts val="0"/>
              </a:spcAft>
              <a:buNone/>
            </a:pPr>
            <a:r>
              <a:rPr lang="en-GB" sz="1200">
                <a:solidFill>
                  <a:srgbClr val="182A3E"/>
                </a:solidFill>
              </a:rPr>
              <a:t>The &gt;20% groups contain 555 lines. This comparison does not establish causation.</a:t>
            </a:r>
            <a:endParaRPr sz="1200">
              <a:solidFill>
                <a:srgbClr val="182A3E"/>
              </a:solidFill>
            </a:endParaRPr>
          </a:p>
        </p:txBody>
      </p:sp>
      <p:sp>
        <p:nvSpPr>
          <p:cNvPr id="181" name="Google Shape;181;p19"/>
          <p:cNvSpPr/>
          <p:nvPr/>
        </p:nvSpPr>
        <p:spPr>
          <a:xfrm>
            <a:off x="406400" y="4775200"/>
            <a:ext cx="7874100" cy="22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830">
                <a:solidFill>
                  <a:srgbClr val="5D6C7C"/>
                </a:solidFill>
              </a:rPr>
              <a:t>Source: samplesuperstore(2).csv; supplied SQL aggregation logic. Amounts in dataset units.</a:t>
            </a:r>
            <a:endParaRPr sz="830">
              <a:solidFill>
                <a:srgbClr val="5D6C7C"/>
              </a:solidFill>
            </a:endParaRPr>
          </a:p>
        </p:txBody>
      </p:sp>
      <p:sp>
        <p:nvSpPr>
          <p:cNvPr id="182" name="Google Shape;182;p19"/>
          <p:cNvSpPr txBox="1"/>
          <p:nvPr/>
        </p:nvSpPr>
        <p:spPr>
          <a:xfrm>
            <a:off x="1555750" y="40132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-35k</a:t>
            </a:r>
            <a:endParaRPr sz="800">
              <a:solidFill>
                <a:srgbClr val="5C6B7D"/>
              </a:solidFill>
            </a:endParaRPr>
          </a:p>
        </p:txBody>
      </p:sp>
      <p:sp>
        <p:nvSpPr>
          <p:cNvPr id="183" name="Google Shape;183;p19"/>
          <p:cNvSpPr txBox="1"/>
          <p:nvPr/>
        </p:nvSpPr>
        <p:spPr>
          <a:xfrm>
            <a:off x="3467100" y="40132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0</a:t>
            </a:r>
            <a:endParaRPr sz="800">
              <a:solidFill>
                <a:srgbClr val="5C6B7D"/>
              </a:solidFill>
            </a:endParaRPr>
          </a:p>
        </p:txBody>
      </p:sp>
      <p:sp>
        <p:nvSpPr>
          <p:cNvPr id="184" name="Google Shape;184;p19"/>
          <p:cNvSpPr txBox="1"/>
          <p:nvPr/>
        </p:nvSpPr>
        <p:spPr>
          <a:xfrm>
            <a:off x="7016750" y="40132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65k</a:t>
            </a:r>
            <a:endParaRPr sz="800">
              <a:solidFill>
                <a:srgbClr val="5C6B7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8" name="Shape 188"/>
        <p:cNvGrpSpPr/>
        <p:nvPr/>
      </p:nvGrpSpPr>
      <p:grpSpPr>
        <a:xfrm>
          <a:off x="0" y="0"/>
          <a:ext cx="0" cy="0"/>
          <a:chOff x="0" y="0"/>
          <a:chExt cx="0" cy="0"/>
        </a:xfrm>
      </p:grpSpPr>
      <p:sp>
        <p:nvSpPr>
          <p:cNvPr id="189" name="Google Shape;189;p20"/>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Tables show a loss even in</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the &gt;0–20% discount group</a:t>
            </a:r>
            <a:endParaRPr b="1" sz="2700">
              <a:solidFill>
                <a:srgbClr val="182A3E"/>
              </a:solidFill>
            </a:endParaRPr>
          </a:p>
        </p:txBody>
      </p:sp>
      <p:sp>
        <p:nvSpPr>
          <p:cNvPr id="190" name="Google Shape;190;p20"/>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08</a:t>
            </a:r>
            <a:endParaRPr sz="900">
              <a:solidFill>
                <a:srgbClr val="5D6C7C"/>
              </a:solidFill>
            </a:endParaRPr>
          </a:p>
        </p:txBody>
      </p:sp>
      <p:pic>
        <p:nvPicPr>
          <p:cNvPr id="191" name="Google Shape;191;p20"/>
          <p:cNvPicPr preferRelativeResize="0"/>
          <p:nvPr/>
        </p:nvPicPr>
        <p:blipFill>
          <a:blip r:embed="rId3">
            <a:alphaModFix/>
          </a:blip>
          <a:stretch>
            <a:fillRect/>
          </a:stretch>
        </p:blipFill>
        <p:spPr>
          <a:xfrm>
            <a:off x="355600" y="1358900"/>
            <a:ext cx="5334000" cy="3363478"/>
          </a:xfrm>
          <a:prstGeom prst="rect">
            <a:avLst/>
          </a:prstGeom>
          <a:noFill/>
          <a:ln>
            <a:noFill/>
          </a:ln>
        </p:spPr>
      </p:pic>
      <p:sp>
        <p:nvSpPr>
          <p:cNvPr id="192" name="Google Shape;192;p20"/>
          <p:cNvSpPr txBox="1"/>
          <p:nvPr/>
        </p:nvSpPr>
        <p:spPr>
          <a:xfrm>
            <a:off x="6007100" y="1473200"/>
            <a:ext cx="2768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900">
                <a:solidFill>
                  <a:srgbClr val="B94E48"/>
                </a:solidFill>
              </a:rPr>
              <a:t>Tables: −298.40</a:t>
            </a:r>
            <a:endParaRPr b="1" sz="1900">
              <a:solidFill>
                <a:srgbClr val="B94E48"/>
              </a:solidFill>
            </a:endParaRPr>
          </a:p>
        </p:txBody>
      </p:sp>
      <p:sp>
        <p:nvSpPr>
          <p:cNvPr id="193" name="Google Shape;193;p20"/>
          <p:cNvSpPr txBox="1"/>
          <p:nvPr/>
        </p:nvSpPr>
        <p:spPr>
          <a:xfrm>
            <a:off x="6007100" y="1955800"/>
            <a:ext cx="27432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2A3E"/>
                </a:solidFill>
              </a:rPr>
              <a:t>Profit in the &gt;0–20% group.</a:t>
            </a:r>
            <a:endParaRPr>
              <a:solidFill>
                <a:srgbClr val="182A3E"/>
              </a:solidFill>
            </a:endParaRPr>
          </a:p>
          <a:p>
            <a:pPr indent="0" lvl="0" marL="0" rtl="0" algn="l">
              <a:spcBef>
                <a:spcPts val="0"/>
              </a:spcBef>
              <a:spcAft>
                <a:spcPts val="0"/>
              </a:spcAft>
              <a:buNone/>
            </a:pPr>
            <a:r>
              <a:rPr lang="en-GB">
                <a:solidFill>
                  <a:srgbClr val="182A3E"/>
                </a:solidFill>
              </a:rPr>
              <a:t>A 20% cap alone does not</a:t>
            </a:r>
            <a:endParaRPr>
              <a:solidFill>
                <a:srgbClr val="182A3E"/>
              </a:solidFill>
            </a:endParaRPr>
          </a:p>
          <a:p>
            <a:pPr indent="0" lvl="0" marL="0" rtl="0" algn="l">
              <a:spcBef>
                <a:spcPts val="0"/>
              </a:spcBef>
              <a:spcAft>
                <a:spcPts val="0"/>
              </a:spcAft>
              <a:buNone/>
            </a:pPr>
            <a:r>
              <a:rPr lang="en-GB">
                <a:solidFill>
                  <a:srgbClr val="182A3E"/>
                </a:solidFill>
              </a:rPr>
              <a:t>ensure profitability.</a:t>
            </a:r>
            <a:endParaRPr>
              <a:solidFill>
                <a:srgbClr val="182A3E"/>
              </a:solidFill>
            </a:endParaRPr>
          </a:p>
        </p:txBody>
      </p:sp>
      <p:sp>
        <p:nvSpPr>
          <p:cNvPr id="194" name="Google Shape;194;p20"/>
          <p:cNvSpPr txBox="1"/>
          <p:nvPr/>
        </p:nvSpPr>
        <p:spPr>
          <a:xfrm>
            <a:off x="6007100" y="3213100"/>
            <a:ext cx="27687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700">
                <a:solidFill>
                  <a:srgbClr val="182A3E"/>
                </a:solidFill>
              </a:rPr>
              <a:t>Both subcategories</a:t>
            </a:r>
            <a:endParaRPr b="1" sz="1700">
              <a:solidFill>
                <a:srgbClr val="182A3E"/>
              </a:solidFill>
            </a:endParaRPr>
          </a:p>
        </p:txBody>
      </p:sp>
      <p:sp>
        <p:nvSpPr>
          <p:cNvPr id="195" name="Google Shape;195;p20"/>
          <p:cNvSpPr txBox="1"/>
          <p:nvPr/>
        </p:nvSpPr>
        <p:spPr>
          <a:xfrm>
            <a:off x="6007100" y="3695700"/>
            <a:ext cx="27687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2A3E"/>
                </a:solidFill>
              </a:rPr>
              <a:t>show losses in each group</a:t>
            </a:r>
            <a:endParaRPr>
              <a:solidFill>
                <a:srgbClr val="182A3E"/>
              </a:solidFill>
            </a:endParaRPr>
          </a:p>
          <a:p>
            <a:pPr indent="0" lvl="0" marL="0" rtl="0" algn="l">
              <a:spcBef>
                <a:spcPts val="0"/>
              </a:spcBef>
              <a:spcAft>
                <a:spcPts val="0"/>
              </a:spcAft>
              <a:buNone/>
            </a:pPr>
            <a:r>
              <a:rPr lang="en-GB">
                <a:solidFill>
                  <a:srgbClr val="182A3E"/>
                </a:solidFill>
              </a:rPr>
              <a:t>above 20% discount.</a:t>
            </a:r>
            <a:endParaRPr>
              <a:solidFill>
                <a:srgbClr val="182A3E"/>
              </a:solidFill>
            </a:endParaRPr>
          </a:p>
          <a:p>
            <a:pPr indent="0" lvl="0" marL="0" rtl="0" algn="l">
              <a:spcBef>
                <a:spcPts val="0"/>
              </a:spcBef>
              <a:spcAft>
                <a:spcPts val="0"/>
              </a:spcAft>
              <a:buNone/>
            </a:pPr>
            <a:r>
              <a:t/>
            </a:r>
            <a:endParaRPr>
              <a:solidFill>
                <a:srgbClr val="182A3E"/>
              </a:solidFill>
            </a:endParaRPr>
          </a:p>
          <a:p>
            <a:pPr indent="0" lvl="0" marL="0" rtl="0" algn="l">
              <a:spcBef>
                <a:spcPts val="0"/>
              </a:spcBef>
              <a:spcAft>
                <a:spcPts val="0"/>
              </a:spcAft>
              <a:buNone/>
            </a:pPr>
            <a:r>
              <a:rPr lang="en-GB">
                <a:solidFill>
                  <a:srgbClr val="182A3E"/>
                </a:solidFill>
              </a:rPr>
              <a:t>This pattern is descriptive.</a:t>
            </a:r>
            <a:endParaRPr>
              <a:solidFill>
                <a:srgbClr val="182A3E"/>
              </a:solidFill>
            </a:endParaRPr>
          </a:p>
        </p:txBody>
      </p:sp>
      <p:sp>
        <p:nvSpPr>
          <p:cNvPr id="196" name="Google Shape;196;p20"/>
          <p:cNvSpPr txBox="1"/>
          <p:nvPr/>
        </p:nvSpPr>
        <p:spPr>
          <a:xfrm>
            <a:off x="355600" y="4838700"/>
            <a:ext cx="7962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solidFill>
                  <a:srgbClr val="5D6C7C"/>
                </a:solidFill>
              </a:rPr>
              <a:t>Source: DBeaver screenshots + CSV. Small decimal differences remain; deck figures use CSV precision.</a:t>
            </a:r>
            <a:endParaRPr sz="800">
              <a:solidFill>
                <a:srgbClr val="5D6C7C"/>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0" name="Shape 200"/>
        <p:cNvGrpSpPr/>
        <p:nvPr/>
      </p:nvGrpSpPr>
      <p:grpSpPr>
        <a:xfrm>
          <a:off x="0" y="0"/>
          <a:ext cx="0" cy="0"/>
          <a:chOff x="0" y="0"/>
          <a:chExt cx="0" cy="0"/>
        </a:xfrm>
      </p:grpSpPr>
      <p:sp>
        <p:nvSpPr>
          <p:cNvPr id="201" name="Google Shape;201;p21"/>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East Tables show the largest loss</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among the regional combinations</a:t>
            </a:r>
            <a:endParaRPr b="1" sz="2700">
              <a:solidFill>
                <a:srgbClr val="182A3E"/>
              </a:solidFill>
            </a:endParaRPr>
          </a:p>
        </p:txBody>
      </p:sp>
      <p:sp>
        <p:nvSpPr>
          <p:cNvPr id="202" name="Google Shape;202;p21"/>
          <p:cNvSpPr/>
          <p:nvPr/>
        </p:nvSpPr>
        <p:spPr>
          <a:xfrm>
            <a:off x="406400" y="1282700"/>
            <a:ext cx="8331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Profit by region, using the same scale in both charts</a:t>
            </a:r>
            <a:endParaRPr sz="1200">
              <a:solidFill>
                <a:srgbClr val="5D6C7C"/>
              </a:solidFill>
            </a:endParaRPr>
          </a:p>
        </p:txBody>
      </p:sp>
      <p:sp>
        <p:nvSpPr>
          <p:cNvPr id="203" name="Google Shape;203;p21"/>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09</a:t>
            </a:r>
            <a:endParaRPr sz="900">
              <a:solidFill>
                <a:srgbClr val="5D6C7C"/>
              </a:solidFill>
            </a:endParaRPr>
          </a:p>
        </p:txBody>
      </p:sp>
      <p:sp>
        <p:nvSpPr>
          <p:cNvPr id="204" name="Google Shape;204;p21"/>
          <p:cNvSpPr/>
          <p:nvPr/>
        </p:nvSpPr>
        <p:spPr>
          <a:xfrm>
            <a:off x="431800" y="2044700"/>
            <a:ext cx="3873600" cy="254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000">
                <a:solidFill>
                  <a:srgbClr val="5D6C7C"/>
                </a:solidFill>
              </a:rPr>
              <a:t>Profit, dataset units</a:t>
            </a:r>
            <a:endParaRPr sz="1000">
              <a:solidFill>
                <a:srgbClr val="5D6C7C"/>
              </a:solidFill>
            </a:endParaRPr>
          </a:p>
        </p:txBody>
      </p:sp>
      <p:sp>
        <p:nvSpPr>
          <p:cNvPr id="205" name="Google Shape;205;p21"/>
          <p:cNvSpPr/>
          <p:nvPr/>
        </p:nvSpPr>
        <p:spPr>
          <a:xfrm>
            <a:off x="3002643" y="2349500"/>
            <a:ext cx="9000" cy="1574700"/>
          </a:xfrm>
          <a:prstGeom prst="rect">
            <a:avLst/>
          </a:prstGeom>
          <a:solidFill>
            <a:srgbClr val="BCC7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1"/>
          <p:cNvSpPr/>
          <p:nvPr/>
        </p:nvSpPr>
        <p:spPr>
          <a:xfrm>
            <a:off x="431800" y="23622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Central</a:t>
            </a:r>
            <a:endParaRPr sz="1200">
              <a:solidFill>
                <a:srgbClr val="182A3E"/>
              </a:solidFill>
            </a:endParaRPr>
          </a:p>
        </p:txBody>
      </p:sp>
      <p:sp>
        <p:nvSpPr>
          <p:cNvPr id="207" name="Google Shape;207;p21"/>
          <p:cNvSpPr/>
          <p:nvPr/>
        </p:nvSpPr>
        <p:spPr>
          <a:xfrm>
            <a:off x="2469839" y="2413000"/>
            <a:ext cx="5328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1"/>
          <p:cNvSpPr/>
          <p:nvPr/>
        </p:nvSpPr>
        <p:spPr>
          <a:xfrm>
            <a:off x="3340100" y="23368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-3,559.65</a:t>
            </a:r>
            <a:endParaRPr b="1" sz="1200">
              <a:solidFill>
                <a:srgbClr val="B94E48"/>
              </a:solidFill>
            </a:endParaRPr>
          </a:p>
        </p:txBody>
      </p:sp>
      <p:sp>
        <p:nvSpPr>
          <p:cNvPr id="209" name="Google Shape;209;p21"/>
          <p:cNvSpPr/>
          <p:nvPr/>
        </p:nvSpPr>
        <p:spPr>
          <a:xfrm>
            <a:off x="431800" y="27813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East</a:t>
            </a:r>
            <a:endParaRPr sz="1200">
              <a:solidFill>
                <a:srgbClr val="182A3E"/>
              </a:solidFill>
            </a:endParaRPr>
          </a:p>
        </p:txBody>
      </p:sp>
      <p:sp>
        <p:nvSpPr>
          <p:cNvPr id="210" name="Google Shape;210;p21"/>
          <p:cNvSpPr/>
          <p:nvPr/>
        </p:nvSpPr>
        <p:spPr>
          <a:xfrm>
            <a:off x="1343284" y="2832100"/>
            <a:ext cx="16593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1"/>
          <p:cNvSpPr/>
          <p:nvPr/>
        </p:nvSpPr>
        <p:spPr>
          <a:xfrm>
            <a:off x="3340100" y="27559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-11,086.15</a:t>
            </a:r>
            <a:endParaRPr b="1" sz="1200">
              <a:solidFill>
                <a:srgbClr val="B94E48"/>
              </a:solidFill>
            </a:endParaRPr>
          </a:p>
        </p:txBody>
      </p:sp>
      <p:sp>
        <p:nvSpPr>
          <p:cNvPr id="212" name="Google Shape;212;p21"/>
          <p:cNvSpPr/>
          <p:nvPr/>
        </p:nvSpPr>
        <p:spPr>
          <a:xfrm>
            <a:off x="431800" y="32004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South</a:t>
            </a:r>
            <a:endParaRPr sz="1200">
              <a:solidFill>
                <a:srgbClr val="182A3E"/>
              </a:solidFill>
            </a:endParaRPr>
          </a:p>
        </p:txBody>
      </p:sp>
      <p:sp>
        <p:nvSpPr>
          <p:cNvPr id="213" name="Google Shape;213;p21"/>
          <p:cNvSpPr/>
          <p:nvPr/>
        </p:nvSpPr>
        <p:spPr>
          <a:xfrm>
            <a:off x="2310670" y="3251200"/>
            <a:ext cx="6921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1"/>
          <p:cNvSpPr/>
          <p:nvPr/>
        </p:nvSpPr>
        <p:spPr>
          <a:xfrm>
            <a:off x="3340100" y="31750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-4,623.06</a:t>
            </a:r>
            <a:endParaRPr b="1" sz="1200">
              <a:solidFill>
                <a:srgbClr val="B94E48"/>
              </a:solidFill>
            </a:endParaRPr>
          </a:p>
        </p:txBody>
      </p:sp>
      <p:sp>
        <p:nvSpPr>
          <p:cNvPr id="215" name="Google Shape;215;p21"/>
          <p:cNvSpPr/>
          <p:nvPr/>
        </p:nvSpPr>
        <p:spPr>
          <a:xfrm>
            <a:off x="431800" y="36195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West</a:t>
            </a:r>
            <a:endParaRPr sz="1200">
              <a:solidFill>
                <a:srgbClr val="182A3E"/>
              </a:solidFill>
            </a:endParaRPr>
          </a:p>
        </p:txBody>
      </p:sp>
      <p:sp>
        <p:nvSpPr>
          <p:cNvPr id="216" name="Google Shape;216;p21"/>
          <p:cNvSpPr/>
          <p:nvPr/>
        </p:nvSpPr>
        <p:spPr>
          <a:xfrm>
            <a:off x="3002643" y="3670300"/>
            <a:ext cx="226800" cy="1905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1"/>
          <p:cNvSpPr/>
          <p:nvPr/>
        </p:nvSpPr>
        <p:spPr>
          <a:xfrm>
            <a:off x="3340100" y="35941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182A3E"/>
                </a:solidFill>
              </a:rPr>
              <a:t>1,515.65</a:t>
            </a:r>
            <a:endParaRPr b="1" sz="1200">
              <a:solidFill>
                <a:srgbClr val="182A3E"/>
              </a:solidFill>
            </a:endParaRPr>
          </a:p>
        </p:txBody>
      </p:sp>
      <p:sp>
        <p:nvSpPr>
          <p:cNvPr id="218" name="Google Shape;218;p21"/>
          <p:cNvSpPr/>
          <p:nvPr/>
        </p:nvSpPr>
        <p:spPr>
          <a:xfrm>
            <a:off x="4851400" y="2044700"/>
            <a:ext cx="3873600" cy="254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000">
                <a:solidFill>
                  <a:srgbClr val="5D6C7C"/>
                </a:solidFill>
              </a:rPr>
              <a:t>Profit, dataset units</a:t>
            </a:r>
            <a:endParaRPr sz="1000">
              <a:solidFill>
                <a:srgbClr val="5D6C7C"/>
              </a:solidFill>
            </a:endParaRPr>
          </a:p>
        </p:txBody>
      </p:sp>
      <p:sp>
        <p:nvSpPr>
          <p:cNvPr id="219" name="Google Shape;219;p21"/>
          <p:cNvSpPr/>
          <p:nvPr/>
        </p:nvSpPr>
        <p:spPr>
          <a:xfrm>
            <a:off x="7422243" y="2349500"/>
            <a:ext cx="9000" cy="1574700"/>
          </a:xfrm>
          <a:prstGeom prst="rect">
            <a:avLst/>
          </a:prstGeom>
          <a:solidFill>
            <a:srgbClr val="BCC7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21"/>
          <p:cNvSpPr/>
          <p:nvPr/>
        </p:nvSpPr>
        <p:spPr>
          <a:xfrm>
            <a:off x="4851400" y="23622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Central</a:t>
            </a:r>
            <a:endParaRPr sz="1200">
              <a:solidFill>
                <a:srgbClr val="182A3E"/>
              </a:solidFill>
            </a:endParaRPr>
          </a:p>
        </p:txBody>
      </p:sp>
      <p:sp>
        <p:nvSpPr>
          <p:cNvPr id="221" name="Google Shape;221;p21"/>
          <p:cNvSpPr/>
          <p:nvPr/>
        </p:nvSpPr>
        <p:spPr>
          <a:xfrm>
            <a:off x="7123199" y="2413000"/>
            <a:ext cx="2991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1"/>
          <p:cNvSpPr/>
          <p:nvPr/>
        </p:nvSpPr>
        <p:spPr>
          <a:xfrm>
            <a:off x="7759700" y="23368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-1,997.90</a:t>
            </a:r>
            <a:endParaRPr b="1" sz="1200">
              <a:solidFill>
                <a:srgbClr val="B94E48"/>
              </a:solidFill>
            </a:endParaRPr>
          </a:p>
        </p:txBody>
      </p:sp>
      <p:sp>
        <p:nvSpPr>
          <p:cNvPr id="223" name="Google Shape;223;p21"/>
          <p:cNvSpPr/>
          <p:nvPr/>
        </p:nvSpPr>
        <p:spPr>
          <a:xfrm>
            <a:off x="4851400" y="27813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East</a:t>
            </a:r>
            <a:endParaRPr sz="1200">
              <a:solidFill>
                <a:srgbClr val="182A3E"/>
              </a:solidFill>
            </a:endParaRPr>
          </a:p>
        </p:txBody>
      </p:sp>
      <p:sp>
        <p:nvSpPr>
          <p:cNvPr id="224" name="Google Shape;224;p21"/>
          <p:cNvSpPr/>
          <p:nvPr/>
        </p:nvSpPr>
        <p:spPr>
          <a:xfrm>
            <a:off x="7217896" y="2832100"/>
            <a:ext cx="2043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1"/>
          <p:cNvSpPr/>
          <p:nvPr/>
        </p:nvSpPr>
        <p:spPr>
          <a:xfrm>
            <a:off x="7759700" y="27559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-1,365.24</a:t>
            </a:r>
            <a:endParaRPr b="1" sz="1200">
              <a:solidFill>
                <a:srgbClr val="B94E48"/>
              </a:solidFill>
            </a:endParaRPr>
          </a:p>
        </p:txBody>
      </p:sp>
      <p:sp>
        <p:nvSpPr>
          <p:cNvPr id="226" name="Google Shape;226;p21"/>
          <p:cNvSpPr/>
          <p:nvPr/>
        </p:nvSpPr>
        <p:spPr>
          <a:xfrm>
            <a:off x="4851400" y="32004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South</a:t>
            </a:r>
            <a:endParaRPr sz="1200">
              <a:solidFill>
                <a:srgbClr val="182A3E"/>
              </a:solidFill>
            </a:endParaRPr>
          </a:p>
        </p:txBody>
      </p:sp>
      <p:sp>
        <p:nvSpPr>
          <p:cNvPr id="227" name="Google Shape;227;p21"/>
          <p:cNvSpPr/>
          <p:nvPr/>
        </p:nvSpPr>
        <p:spPr>
          <a:xfrm>
            <a:off x="7422243" y="3251200"/>
            <a:ext cx="200400" cy="190500"/>
          </a:xfrm>
          <a:prstGeom prst="rect">
            <a:avLst/>
          </a:prstGeom>
          <a:solidFill>
            <a:srgbClr val="247F7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1"/>
          <p:cNvSpPr/>
          <p:nvPr/>
        </p:nvSpPr>
        <p:spPr>
          <a:xfrm>
            <a:off x="7759700" y="31750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182A3E"/>
                </a:solidFill>
              </a:rPr>
              <a:t>1,339.49</a:t>
            </a:r>
            <a:endParaRPr b="1" sz="1200">
              <a:solidFill>
                <a:srgbClr val="182A3E"/>
              </a:solidFill>
            </a:endParaRPr>
          </a:p>
        </p:txBody>
      </p:sp>
      <p:sp>
        <p:nvSpPr>
          <p:cNvPr id="229" name="Google Shape;229;p21"/>
          <p:cNvSpPr/>
          <p:nvPr/>
        </p:nvSpPr>
        <p:spPr>
          <a:xfrm>
            <a:off x="4851400" y="3619500"/>
            <a:ext cx="685800" cy="31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182A3E"/>
                </a:solidFill>
              </a:rPr>
              <a:t>West</a:t>
            </a:r>
            <a:endParaRPr sz="1200">
              <a:solidFill>
                <a:srgbClr val="182A3E"/>
              </a:solidFill>
            </a:endParaRPr>
          </a:p>
        </p:txBody>
      </p:sp>
      <p:sp>
        <p:nvSpPr>
          <p:cNvPr id="230" name="Google Shape;230;p21"/>
          <p:cNvSpPr/>
          <p:nvPr/>
        </p:nvSpPr>
        <p:spPr>
          <a:xfrm>
            <a:off x="7181496" y="3670300"/>
            <a:ext cx="240600" cy="190500"/>
          </a:xfrm>
          <a:prstGeom prst="rect">
            <a:avLst/>
          </a:prstGeom>
          <a:solidFill>
            <a:srgbClr val="B94E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1"/>
          <p:cNvSpPr/>
          <p:nvPr/>
        </p:nvSpPr>
        <p:spPr>
          <a:xfrm>
            <a:off x="7759700" y="3594100"/>
            <a:ext cx="1003200" cy="3174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b="1" lang="en-GB" sz="1200">
                <a:solidFill>
                  <a:srgbClr val="B94E48"/>
                </a:solidFill>
              </a:rPr>
              <a:t>-1,608.43</a:t>
            </a:r>
            <a:endParaRPr b="1" sz="1200">
              <a:solidFill>
                <a:srgbClr val="B94E48"/>
              </a:solidFill>
            </a:endParaRPr>
          </a:p>
        </p:txBody>
      </p:sp>
      <p:sp>
        <p:nvSpPr>
          <p:cNvPr id="232" name="Google Shape;232;p21"/>
          <p:cNvSpPr/>
          <p:nvPr/>
        </p:nvSpPr>
        <p:spPr>
          <a:xfrm>
            <a:off x="431800" y="4241800"/>
            <a:ext cx="8255100" cy="507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300">
                <a:solidFill>
                  <a:srgbClr val="182A3E"/>
                </a:solidFill>
              </a:rPr>
              <a:t>Tables earn positive profit only in West.</a:t>
            </a:r>
            <a:endParaRPr sz="1300">
              <a:solidFill>
                <a:srgbClr val="182A3E"/>
              </a:solidFill>
            </a:endParaRPr>
          </a:p>
          <a:p>
            <a:pPr indent="0" lvl="0" marL="0" rtl="0" algn="l">
              <a:lnSpc>
                <a:spcPct val="112000"/>
              </a:lnSpc>
              <a:spcBef>
                <a:spcPts val="0"/>
              </a:spcBef>
              <a:spcAft>
                <a:spcPts val="0"/>
              </a:spcAft>
              <a:buNone/>
            </a:pPr>
            <a:r>
              <a:rPr lang="en-GB" sz="1300">
                <a:solidFill>
                  <a:srgbClr val="182A3E"/>
                </a:solidFill>
              </a:rPr>
              <a:t>Bookcases earn positive profit only in South.</a:t>
            </a:r>
            <a:endParaRPr sz="1300">
              <a:solidFill>
                <a:srgbClr val="182A3E"/>
              </a:solidFill>
            </a:endParaRPr>
          </a:p>
        </p:txBody>
      </p:sp>
      <p:sp>
        <p:nvSpPr>
          <p:cNvPr id="233" name="Google Shape;233;p21"/>
          <p:cNvSpPr/>
          <p:nvPr/>
        </p:nvSpPr>
        <p:spPr>
          <a:xfrm>
            <a:off x="406400" y="4775200"/>
            <a:ext cx="7874100" cy="22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830">
                <a:solidFill>
                  <a:srgbClr val="5D6C7C"/>
                </a:solidFill>
              </a:rPr>
              <a:t>Source: samplesuperstore(2).csv; supplied SQL aggregation logic. Amounts in dataset units.</a:t>
            </a:r>
            <a:endParaRPr sz="830">
              <a:solidFill>
                <a:srgbClr val="5D6C7C"/>
              </a:solidFill>
            </a:endParaRPr>
          </a:p>
        </p:txBody>
      </p:sp>
      <p:sp>
        <p:nvSpPr>
          <p:cNvPr id="234" name="Google Shape;234;p21"/>
          <p:cNvSpPr txBox="1"/>
          <p:nvPr/>
        </p:nvSpPr>
        <p:spPr>
          <a:xfrm>
            <a:off x="984250" y="39751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-12k</a:t>
            </a:r>
            <a:endParaRPr sz="800">
              <a:solidFill>
                <a:srgbClr val="5C6B7D"/>
              </a:solidFill>
            </a:endParaRPr>
          </a:p>
        </p:txBody>
      </p:sp>
      <p:sp>
        <p:nvSpPr>
          <p:cNvPr id="235" name="Google Shape;235;p21"/>
          <p:cNvSpPr txBox="1"/>
          <p:nvPr/>
        </p:nvSpPr>
        <p:spPr>
          <a:xfrm>
            <a:off x="2780393" y="39751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0</a:t>
            </a:r>
            <a:endParaRPr sz="800">
              <a:solidFill>
                <a:srgbClr val="5C6B7D"/>
              </a:solidFill>
            </a:endParaRPr>
          </a:p>
        </p:txBody>
      </p:sp>
      <p:sp>
        <p:nvSpPr>
          <p:cNvPr id="236" name="Google Shape;236;p21"/>
          <p:cNvSpPr txBox="1"/>
          <p:nvPr/>
        </p:nvSpPr>
        <p:spPr>
          <a:xfrm>
            <a:off x="3079750" y="39751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2k</a:t>
            </a:r>
            <a:endParaRPr sz="800">
              <a:solidFill>
                <a:srgbClr val="5C6B7D"/>
              </a:solidFill>
            </a:endParaRPr>
          </a:p>
        </p:txBody>
      </p:sp>
      <p:sp>
        <p:nvSpPr>
          <p:cNvPr id="237" name="Google Shape;237;p21"/>
          <p:cNvSpPr txBox="1"/>
          <p:nvPr/>
        </p:nvSpPr>
        <p:spPr>
          <a:xfrm>
            <a:off x="5403850" y="39751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-12k</a:t>
            </a:r>
            <a:endParaRPr sz="800">
              <a:solidFill>
                <a:srgbClr val="5C6B7D"/>
              </a:solidFill>
            </a:endParaRPr>
          </a:p>
        </p:txBody>
      </p:sp>
      <p:sp>
        <p:nvSpPr>
          <p:cNvPr id="238" name="Google Shape;238;p21"/>
          <p:cNvSpPr txBox="1"/>
          <p:nvPr/>
        </p:nvSpPr>
        <p:spPr>
          <a:xfrm>
            <a:off x="7199993" y="39751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0</a:t>
            </a:r>
            <a:endParaRPr sz="800">
              <a:solidFill>
                <a:srgbClr val="5C6B7D"/>
              </a:solidFill>
            </a:endParaRPr>
          </a:p>
        </p:txBody>
      </p:sp>
      <p:sp>
        <p:nvSpPr>
          <p:cNvPr id="239" name="Google Shape;239;p21"/>
          <p:cNvSpPr txBox="1"/>
          <p:nvPr/>
        </p:nvSpPr>
        <p:spPr>
          <a:xfrm>
            <a:off x="7499350" y="3975100"/>
            <a:ext cx="444600" cy="2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solidFill>
                  <a:srgbClr val="5C6B7D"/>
                </a:solidFill>
              </a:rPr>
              <a:t>2k</a:t>
            </a:r>
            <a:endParaRPr sz="800">
              <a:solidFill>
                <a:srgbClr val="5C6B7D"/>
              </a:solidFill>
            </a:endParaRPr>
          </a:p>
        </p:txBody>
      </p:sp>
      <p:sp>
        <p:nvSpPr>
          <p:cNvPr id="240" name="Google Shape;240;p21"/>
          <p:cNvSpPr txBox="1"/>
          <p:nvPr/>
        </p:nvSpPr>
        <p:spPr>
          <a:xfrm>
            <a:off x="431800" y="1701800"/>
            <a:ext cx="3810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182A3E"/>
                </a:solidFill>
              </a:rPr>
              <a:t>Tables</a:t>
            </a:r>
            <a:endParaRPr b="1" sz="1600">
              <a:solidFill>
                <a:srgbClr val="182A3E"/>
              </a:solidFill>
            </a:endParaRPr>
          </a:p>
        </p:txBody>
      </p:sp>
      <p:sp>
        <p:nvSpPr>
          <p:cNvPr id="241" name="Google Shape;241;p21"/>
          <p:cNvSpPr txBox="1"/>
          <p:nvPr/>
        </p:nvSpPr>
        <p:spPr>
          <a:xfrm>
            <a:off x="4851400" y="1701800"/>
            <a:ext cx="3810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182A3E"/>
                </a:solidFill>
              </a:rPr>
              <a:t>Bookcases</a:t>
            </a:r>
            <a:endParaRPr b="1" sz="1600">
              <a:solidFill>
                <a:srgbClr val="182A3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5" name="Shape 245"/>
        <p:cNvGrpSpPr/>
        <p:nvPr/>
      </p:nvGrpSpPr>
      <p:grpSpPr>
        <a:xfrm>
          <a:off x="0" y="0"/>
          <a:ext cx="0" cy="0"/>
          <a:chOff x="0" y="0"/>
          <a:chExt cx="0" cy="0"/>
        </a:xfrm>
      </p:grpSpPr>
      <p:sp>
        <p:nvSpPr>
          <p:cNvPr id="246" name="Google Shape;246;p22"/>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82 of 85 East Tables lines carry</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&gt;20–40% discounts</a:t>
            </a:r>
            <a:endParaRPr b="1" sz="2700">
              <a:solidFill>
                <a:srgbClr val="182A3E"/>
              </a:solidFill>
            </a:endParaRPr>
          </a:p>
        </p:txBody>
      </p:sp>
      <p:sp>
        <p:nvSpPr>
          <p:cNvPr id="247" name="Google Shape;247;p22"/>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10</a:t>
            </a:r>
            <a:endParaRPr sz="900">
              <a:solidFill>
                <a:srgbClr val="5D6C7C"/>
              </a:solidFill>
            </a:endParaRPr>
          </a:p>
        </p:txBody>
      </p:sp>
      <p:pic>
        <p:nvPicPr>
          <p:cNvPr id="248" name="Google Shape;248;p22"/>
          <p:cNvPicPr preferRelativeResize="0"/>
          <p:nvPr/>
        </p:nvPicPr>
        <p:blipFill>
          <a:blip r:embed="rId3">
            <a:alphaModFix/>
          </a:blip>
          <a:stretch>
            <a:fillRect/>
          </a:stretch>
        </p:blipFill>
        <p:spPr>
          <a:xfrm>
            <a:off x="355600" y="1435100"/>
            <a:ext cx="5651500" cy="3255264"/>
          </a:xfrm>
          <a:prstGeom prst="rect">
            <a:avLst/>
          </a:prstGeom>
          <a:noFill/>
          <a:ln>
            <a:noFill/>
          </a:ln>
        </p:spPr>
      </p:pic>
      <p:sp>
        <p:nvSpPr>
          <p:cNvPr id="249" name="Google Shape;249;p22"/>
          <p:cNvSpPr txBox="1"/>
          <p:nvPr/>
        </p:nvSpPr>
        <p:spPr>
          <a:xfrm>
            <a:off x="6273800" y="1600200"/>
            <a:ext cx="25146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200">
                <a:solidFill>
                  <a:srgbClr val="B94E48"/>
                </a:solidFill>
              </a:rPr>
              <a:t>96.47%</a:t>
            </a:r>
            <a:endParaRPr b="1" sz="3200">
              <a:solidFill>
                <a:srgbClr val="B94E48"/>
              </a:solidFill>
            </a:endParaRPr>
          </a:p>
        </p:txBody>
      </p:sp>
      <p:sp>
        <p:nvSpPr>
          <p:cNvPr id="250" name="Google Shape;250;p22"/>
          <p:cNvSpPr txBox="1"/>
          <p:nvPr/>
        </p:nvSpPr>
        <p:spPr>
          <a:xfrm>
            <a:off x="6273800" y="2260600"/>
            <a:ext cx="25146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2A3E"/>
                </a:solidFill>
              </a:rPr>
              <a:t>of East Tables lines</a:t>
            </a:r>
            <a:endParaRPr>
              <a:solidFill>
                <a:srgbClr val="182A3E"/>
              </a:solidFill>
            </a:endParaRPr>
          </a:p>
          <a:p>
            <a:pPr indent="0" lvl="0" marL="0" rtl="0" algn="l">
              <a:spcBef>
                <a:spcPts val="0"/>
              </a:spcBef>
              <a:spcAft>
                <a:spcPts val="0"/>
              </a:spcAft>
              <a:buNone/>
            </a:pPr>
            <a:r>
              <a:rPr lang="en-GB">
                <a:solidFill>
                  <a:srgbClr val="182A3E"/>
                </a:solidFill>
              </a:rPr>
              <a:t>have &gt;20–40% discounts.</a:t>
            </a:r>
            <a:endParaRPr>
              <a:solidFill>
                <a:srgbClr val="182A3E"/>
              </a:solidFill>
            </a:endParaRPr>
          </a:p>
        </p:txBody>
      </p:sp>
      <p:sp>
        <p:nvSpPr>
          <p:cNvPr id="251" name="Google Shape;251;p22"/>
          <p:cNvSpPr txBox="1"/>
          <p:nvPr/>
        </p:nvSpPr>
        <p:spPr>
          <a:xfrm>
            <a:off x="6273800" y="2984500"/>
            <a:ext cx="25146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B94E48"/>
                </a:solidFill>
              </a:rPr>
              <a:t>−11,116.89</a:t>
            </a:r>
            <a:endParaRPr b="1" sz="2400">
              <a:solidFill>
                <a:srgbClr val="B94E48"/>
              </a:solidFill>
            </a:endParaRPr>
          </a:p>
        </p:txBody>
      </p:sp>
      <p:sp>
        <p:nvSpPr>
          <p:cNvPr id="252" name="Google Shape;252;p22"/>
          <p:cNvSpPr txBox="1"/>
          <p:nvPr/>
        </p:nvSpPr>
        <p:spPr>
          <a:xfrm>
            <a:off x="6273800" y="3467100"/>
            <a:ext cx="25272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182A3E"/>
                </a:solidFill>
              </a:rPr>
              <a:t>profit in that group</a:t>
            </a:r>
            <a:endParaRPr sz="1300">
              <a:solidFill>
                <a:srgbClr val="182A3E"/>
              </a:solidFill>
            </a:endParaRPr>
          </a:p>
        </p:txBody>
      </p:sp>
      <p:sp>
        <p:nvSpPr>
          <p:cNvPr id="253" name="Google Shape;253;p22"/>
          <p:cNvSpPr txBox="1"/>
          <p:nvPr/>
        </p:nvSpPr>
        <p:spPr>
          <a:xfrm>
            <a:off x="6273800" y="4013200"/>
            <a:ext cx="25272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5D6C7C"/>
                </a:solidFill>
              </a:rPr>
              <a:t>Only 3 no-discount lines.</a:t>
            </a:r>
            <a:endParaRPr sz="1200">
              <a:solidFill>
                <a:srgbClr val="5D6C7C"/>
              </a:solidFill>
            </a:endParaRPr>
          </a:p>
          <a:p>
            <a:pPr indent="0" lvl="0" marL="0" rtl="0" algn="l">
              <a:spcBef>
                <a:spcPts val="0"/>
              </a:spcBef>
              <a:spcAft>
                <a:spcPts val="0"/>
              </a:spcAft>
              <a:buNone/>
            </a:pPr>
            <a:r>
              <a:rPr lang="en-GB" sz="1200">
                <a:solidFill>
                  <a:srgbClr val="5D6C7C"/>
                </a:solidFill>
              </a:rPr>
              <a:t>Too few for a reliable</a:t>
            </a:r>
            <a:endParaRPr sz="1200">
              <a:solidFill>
                <a:srgbClr val="5D6C7C"/>
              </a:solidFill>
            </a:endParaRPr>
          </a:p>
          <a:p>
            <a:pPr indent="0" lvl="0" marL="0" rtl="0" algn="l">
              <a:spcBef>
                <a:spcPts val="0"/>
              </a:spcBef>
              <a:spcAft>
                <a:spcPts val="0"/>
              </a:spcAft>
              <a:buNone/>
            </a:pPr>
            <a:r>
              <a:rPr lang="en-GB" sz="1200">
                <a:solidFill>
                  <a:srgbClr val="5D6C7C"/>
                </a:solidFill>
              </a:rPr>
              <a:t>comparison benchmark.</a:t>
            </a:r>
            <a:endParaRPr sz="1200">
              <a:solidFill>
                <a:srgbClr val="5D6C7C"/>
              </a:solidFill>
            </a:endParaRPr>
          </a:p>
        </p:txBody>
      </p:sp>
      <p:sp>
        <p:nvSpPr>
          <p:cNvPr id="254" name="Google Shape;254;p22"/>
          <p:cNvSpPr txBox="1"/>
          <p:nvPr/>
        </p:nvSpPr>
        <p:spPr>
          <a:xfrm>
            <a:off x="355600" y="4838700"/>
            <a:ext cx="7962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solidFill>
                  <a:srgbClr val="5D6C7C"/>
                </a:solidFill>
              </a:rPr>
              <a:t>Source: DBeaver screenshots + CSV. Small decimal differences remain; deck figures use CSV precision.</a:t>
            </a:r>
            <a:endParaRPr sz="800">
              <a:solidFill>
                <a:srgbClr val="5D6C7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8" name="Shape 258"/>
        <p:cNvGrpSpPr/>
        <p:nvPr/>
      </p:nvGrpSpPr>
      <p:grpSpPr>
        <a:xfrm>
          <a:off x="0" y="0"/>
          <a:ext cx="0" cy="0"/>
          <a:chOff x="0" y="0"/>
          <a:chExt cx="0" cy="0"/>
        </a:xfrm>
      </p:grpSpPr>
      <p:sp>
        <p:nvSpPr>
          <p:cNvPr id="259" name="Google Shape;259;p23"/>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182A3E"/>
                </a:solidFill>
              </a:rPr>
              <a:t>East Tables pricing needs review</a:t>
            </a:r>
            <a:endParaRPr b="1" sz="2700">
              <a:solidFill>
                <a:srgbClr val="182A3E"/>
              </a:solidFill>
            </a:endParaRPr>
          </a:p>
          <a:p>
            <a:pPr indent="0" lvl="0" marL="0" rtl="0" algn="l">
              <a:lnSpc>
                <a:spcPct val="112000"/>
              </a:lnSpc>
              <a:spcBef>
                <a:spcPts val="0"/>
              </a:spcBef>
              <a:spcAft>
                <a:spcPts val="0"/>
              </a:spcAft>
              <a:buNone/>
            </a:pPr>
            <a:r>
              <a:rPr b="1" lang="en-GB" sz="2700">
                <a:solidFill>
                  <a:srgbClr val="182A3E"/>
                </a:solidFill>
              </a:rPr>
              <a:t>before the next promotion</a:t>
            </a:r>
            <a:endParaRPr b="1" sz="2700">
              <a:solidFill>
                <a:srgbClr val="182A3E"/>
              </a:solidFill>
            </a:endParaRPr>
          </a:p>
        </p:txBody>
      </p:sp>
      <p:sp>
        <p:nvSpPr>
          <p:cNvPr id="260" name="Google Shape;260;p23"/>
          <p:cNvSpPr/>
          <p:nvPr/>
        </p:nvSpPr>
        <p:spPr>
          <a:xfrm>
            <a:off x="406400" y="1282700"/>
            <a:ext cx="8331300" cy="381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200">
                <a:solidFill>
                  <a:srgbClr val="5D6C7C"/>
                </a:solidFill>
              </a:rPr>
              <a:t>Proposed actions and validation checks, with no assumed profit uplift</a:t>
            </a:r>
            <a:endParaRPr sz="1200">
              <a:solidFill>
                <a:srgbClr val="5D6C7C"/>
              </a:solidFill>
            </a:endParaRPr>
          </a:p>
        </p:txBody>
      </p:sp>
      <p:sp>
        <p:nvSpPr>
          <p:cNvPr id="261" name="Google Shape;261;p23"/>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5D6C7C"/>
                </a:solidFill>
              </a:rPr>
              <a:t>11</a:t>
            </a:r>
            <a:endParaRPr sz="900">
              <a:solidFill>
                <a:srgbClr val="5D6C7C"/>
              </a:solidFill>
            </a:endParaRPr>
          </a:p>
        </p:txBody>
      </p:sp>
      <p:sp>
        <p:nvSpPr>
          <p:cNvPr id="262" name="Google Shape;262;p23"/>
          <p:cNvSpPr/>
          <p:nvPr/>
        </p:nvSpPr>
        <p:spPr>
          <a:xfrm>
            <a:off x="431800" y="1790700"/>
            <a:ext cx="3975000" cy="342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800">
                <a:solidFill>
                  <a:srgbClr val="3975C6"/>
                </a:solidFill>
              </a:rPr>
              <a:t>Commercial actions</a:t>
            </a:r>
            <a:endParaRPr b="1" sz="1800">
              <a:solidFill>
                <a:srgbClr val="3975C6"/>
              </a:solidFill>
            </a:endParaRPr>
          </a:p>
        </p:txBody>
      </p:sp>
      <p:sp>
        <p:nvSpPr>
          <p:cNvPr id="263" name="Google Shape;263;p23"/>
          <p:cNvSpPr/>
          <p:nvPr/>
        </p:nvSpPr>
        <p:spPr>
          <a:xfrm>
            <a:off x="431800" y="2273300"/>
            <a:ext cx="4089300" cy="10032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500">
                <a:solidFill>
                  <a:srgbClr val="182A3E"/>
                </a:solidFill>
              </a:rPr>
              <a:t>Merchandising + Finance</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Audit East Tables list prices, cost inputs</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and discount rules at product level.</a:t>
            </a:r>
            <a:endParaRPr sz="1500">
              <a:solidFill>
                <a:srgbClr val="182A3E"/>
              </a:solidFill>
            </a:endParaRPr>
          </a:p>
        </p:txBody>
      </p:sp>
      <p:sp>
        <p:nvSpPr>
          <p:cNvPr id="264" name="Google Shape;264;p23"/>
          <p:cNvSpPr/>
          <p:nvPr/>
        </p:nvSpPr>
        <p:spPr>
          <a:xfrm>
            <a:off x="431800" y="3492500"/>
            <a:ext cx="4089300" cy="990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500">
                <a:solidFill>
                  <a:srgbClr val="182A3E"/>
                </a:solidFill>
              </a:rPr>
              <a:t>Promotion owner</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Review profitability above 20% before</a:t>
            </a:r>
            <a:endParaRPr sz="1500">
              <a:solidFill>
                <a:srgbClr val="182A3E"/>
              </a:solidFill>
            </a:endParaRPr>
          </a:p>
          <a:p>
            <a:pPr indent="0" lvl="0" marL="0" rtl="0" algn="l">
              <a:lnSpc>
                <a:spcPct val="112000"/>
              </a:lnSpc>
              <a:spcBef>
                <a:spcPts val="0"/>
              </a:spcBef>
              <a:spcAft>
                <a:spcPts val="0"/>
              </a:spcAft>
              <a:buNone/>
            </a:pPr>
            <a:r>
              <a:rPr lang="en-GB" sz="1500">
                <a:solidFill>
                  <a:srgbClr val="182A3E"/>
                </a:solidFill>
              </a:rPr>
              <a:t>approval. Check lower discounts on Tables too.</a:t>
            </a:r>
            <a:endParaRPr sz="1500">
              <a:solidFill>
                <a:srgbClr val="182A3E"/>
              </a:solidFill>
            </a:endParaRPr>
          </a:p>
        </p:txBody>
      </p:sp>
      <p:sp>
        <p:nvSpPr>
          <p:cNvPr id="265" name="Google Shape;265;p23"/>
          <p:cNvSpPr/>
          <p:nvPr/>
        </p:nvSpPr>
        <p:spPr>
          <a:xfrm>
            <a:off x="4800600" y="1790700"/>
            <a:ext cx="3886200" cy="342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800">
                <a:solidFill>
                  <a:srgbClr val="182A3E"/>
                </a:solidFill>
              </a:rPr>
              <a:t>Validation and limits</a:t>
            </a:r>
            <a:endParaRPr b="1" sz="1800">
              <a:solidFill>
                <a:srgbClr val="182A3E"/>
              </a:solidFill>
            </a:endParaRPr>
          </a:p>
        </p:txBody>
      </p:sp>
      <p:sp>
        <p:nvSpPr>
          <p:cNvPr id="266" name="Google Shape;266;p23"/>
          <p:cNvSpPr/>
          <p:nvPr/>
        </p:nvSpPr>
        <p:spPr>
          <a:xfrm>
            <a:off x="4800600" y="2273300"/>
            <a:ext cx="3898800" cy="1397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182A3E"/>
                </a:solidFill>
              </a:rPr>
              <a:t>Reconcile CSV and database precision.</a:t>
            </a:r>
            <a:endParaRPr>
              <a:solidFill>
                <a:srgbClr val="182A3E"/>
              </a:solidFill>
            </a:endParaRPr>
          </a:p>
          <a:p>
            <a:pPr indent="0" lvl="0" marL="0" rtl="0" algn="l">
              <a:lnSpc>
                <a:spcPct val="112000"/>
              </a:lnSpc>
              <a:spcBef>
                <a:spcPts val="0"/>
              </a:spcBef>
              <a:spcAft>
                <a:spcPts val="0"/>
              </a:spcAft>
              <a:buNone/>
            </a:pPr>
            <a:r>
              <a:rPr lang="en-GB">
                <a:solidFill>
                  <a:srgbClr val="182A3E"/>
                </a:solidFill>
              </a:rPr>
              <a:t>Confirm dates, currency and profit definition.</a:t>
            </a:r>
            <a:endParaRPr>
              <a:solidFill>
                <a:srgbClr val="182A3E"/>
              </a:solidFill>
            </a:endParaRPr>
          </a:p>
          <a:p>
            <a:pPr indent="0" lvl="0" marL="0" rtl="0" algn="l">
              <a:lnSpc>
                <a:spcPct val="112000"/>
              </a:lnSpc>
              <a:spcBef>
                <a:spcPts val="0"/>
              </a:spcBef>
              <a:spcAft>
                <a:spcPts val="0"/>
              </a:spcAft>
              <a:buNone/>
            </a:pPr>
            <a:r>
              <a:rPr lang="en-GB">
                <a:solidFill>
                  <a:srgbClr val="182A3E"/>
                </a:solidFill>
              </a:rPr>
              <a:t>Review product mix and discount eligibility.</a:t>
            </a:r>
            <a:endParaRPr>
              <a:solidFill>
                <a:srgbClr val="182A3E"/>
              </a:solidFill>
            </a:endParaRPr>
          </a:p>
          <a:p>
            <a:pPr indent="0" lvl="0" marL="0" rtl="0" algn="l">
              <a:lnSpc>
                <a:spcPct val="112000"/>
              </a:lnSpc>
              <a:spcBef>
                <a:spcPts val="0"/>
              </a:spcBef>
              <a:spcAft>
                <a:spcPts val="0"/>
              </a:spcAft>
              <a:buNone/>
            </a:pPr>
            <a:r>
              <a:rPr lang="en-GB">
                <a:solidFill>
                  <a:srgbClr val="182A3E"/>
                </a:solidFill>
              </a:rPr>
              <a:t>Track margin and loss-making lines by region.</a:t>
            </a:r>
            <a:endParaRPr>
              <a:solidFill>
                <a:srgbClr val="182A3E"/>
              </a:solidFill>
            </a:endParaRPr>
          </a:p>
        </p:txBody>
      </p:sp>
      <p:sp>
        <p:nvSpPr>
          <p:cNvPr id="267" name="Google Shape;267;p23"/>
          <p:cNvSpPr/>
          <p:nvPr/>
        </p:nvSpPr>
        <p:spPr>
          <a:xfrm>
            <a:off x="4800600" y="3911600"/>
            <a:ext cx="3924300" cy="635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100">
                <a:solidFill>
                  <a:srgbClr val="5D6C7C"/>
                </a:solidFill>
              </a:rPr>
              <a:t>Observational data cannot establish causality.</a:t>
            </a:r>
            <a:endParaRPr sz="1100">
              <a:solidFill>
                <a:srgbClr val="5D6C7C"/>
              </a:solidFill>
            </a:endParaRPr>
          </a:p>
          <a:p>
            <a:pPr indent="0" lvl="0" marL="0" rtl="0" algn="l">
              <a:lnSpc>
                <a:spcPct val="112000"/>
              </a:lnSpc>
              <a:spcBef>
                <a:spcPts val="0"/>
              </a:spcBef>
              <a:spcAft>
                <a:spcPts val="0"/>
              </a:spcAft>
              <a:buNone/>
            </a:pPr>
            <a:r>
              <a:rPr lang="en-GB" sz="1100">
                <a:solidFill>
                  <a:srgbClr val="5D6C7C"/>
                </a:solidFill>
              </a:rPr>
              <a:t>Only 3 East Tables lines have no discount.</a:t>
            </a:r>
            <a:endParaRPr sz="1100">
              <a:solidFill>
                <a:srgbClr val="5D6C7C"/>
              </a:solidFill>
            </a:endParaRPr>
          </a:p>
          <a:p>
            <a:pPr indent="0" lvl="0" marL="0" rtl="0" algn="l">
              <a:lnSpc>
                <a:spcPct val="112000"/>
              </a:lnSpc>
              <a:spcBef>
                <a:spcPts val="0"/>
              </a:spcBef>
              <a:spcAft>
                <a:spcPts val="0"/>
              </a:spcAft>
              <a:buNone/>
            </a:pPr>
            <a:r>
              <a:rPr lang="en-GB" sz="1100">
                <a:solidFill>
                  <a:srgbClr val="5D6C7C"/>
                </a:solidFill>
              </a:rPr>
              <a:t>Source records extend to December 2026.</a:t>
            </a:r>
            <a:endParaRPr sz="1100">
              <a:solidFill>
                <a:srgbClr val="5D6C7C"/>
              </a:solidFill>
            </a:endParaRPr>
          </a:p>
        </p:txBody>
      </p:sp>
      <p:sp>
        <p:nvSpPr>
          <p:cNvPr id="268" name="Google Shape;268;p23"/>
          <p:cNvSpPr/>
          <p:nvPr/>
        </p:nvSpPr>
        <p:spPr>
          <a:xfrm>
            <a:off x="406400" y="4775200"/>
            <a:ext cx="7874100" cy="22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830">
                <a:solidFill>
                  <a:srgbClr val="5D6C7C"/>
                </a:solidFill>
              </a:rPr>
              <a:t>Proposed responsibilities and checks. No experiment, causal effect or projected profit gain is claimed.</a:t>
            </a:r>
            <a:endParaRPr sz="830">
              <a:solidFill>
                <a:srgbClr val="5D6C7C"/>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2A3E"/>
        </a:solidFill>
      </p:bgPr>
    </p:bg>
    <p:spTree>
      <p:nvGrpSpPr>
        <p:cNvPr id="272" name="Shape 272"/>
        <p:cNvGrpSpPr/>
        <p:nvPr/>
      </p:nvGrpSpPr>
      <p:grpSpPr>
        <a:xfrm>
          <a:off x="0" y="0"/>
          <a:ext cx="0" cy="0"/>
          <a:chOff x="0" y="0"/>
          <a:chExt cx="0" cy="0"/>
        </a:xfrm>
      </p:grpSpPr>
      <p:sp>
        <p:nvSpPr>
          <p:cNvPr id="273" name="Google Shape;273;p24"/>
          <p:cNvSpPr/>
          <p:nvPr/>
        </p:nvSpPr>
        <p:spPr>
          <a:xfrm>
            <a:off x="406400" y="330200"/>
            <a:ext cx="8331300" cy="888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2700">
                <a:solidFill>
                  <a:srgbClr val="FFFFFF"/>
                </a:solidFill>
              </a:rPr>
              <a:t>Furniture is the review priority.</a:t>
            </a:r>
            <a:endParaRPr b="1" sz="2700">
              <a:solidFill>
                <a:srgbClr val="FFFFFF"/>
              </a:solidFill>
            </a:endParaRPr>
          </a:p>
          <a:p>
            <a:pPr indent="0" lvl="0" marL="0" rtl="0" algn="l">
              <a:lnSpc>
                <a:spcPct val="112000"/>
              </a:lnSpc>
              <a:spcBef>
                <a:spcPts val="0"/>
              </a:spcBef>
              <a:spcAft>
                <a:spcPts val="0"/>
              </a:spcAft>
              <a:buNone/>
            </a:pPr>
            <a:r>
              <a:rPr b="1" lang="en-GB" sz="2700">
                <a:solidFill>
                  <a:srgbClr val="FFFFFF"/>
                </a:solidFill>
              </a:rPr>
              <a:t>East Tables is the starting point.</a:t>
            </a:r>
            <a:endParaRPr b="1" sz="2700">
              <a:solidFill>
                <a:srgbClr val="FFFFFF"/>
              </a:solidFill>
            </a:endParaRPr>
          </a:p>
        </p:txBody>
      </p:sp>
      <p:sp>
        <p:nvSpPr>
          <p:cNvPr id="274" name="Google Shape;274;p24"/>
          <p:cNvSpPr/>
          <p:nvPr/>
        </p:nvSpPr>
        <p:spPr>
          <a:xfrm>
            <a:off x="8369300" y="4775200"/>
            <a:ext cx="393600" cy="203100"/>
          </a:xfrm>
          <a:prstGeom prst="rect">
            <a:avLst/>
          </a:prstGeom>
          <a:noFill/>
          <a:ln>
            <a:noFill/>
          </a:ln>
        </p:spPr>
        <p:txBody>
          <a:bodyPr anchorCtr="0" anchor="t" bIns="91425" lIns="91425" spcFirstLastPara="1" rIns="91425" wrap="square" tIns="91425">
            <a:noAutofit/>
          </a:bodyPr>
          <a:lstStyle/>
          <a:p>
            <a:pPr indent="0" lvl="0" marL="0" rtl="0" algn="r">
              <a:lnSpc>
                <a:spcPct val="112000"/>
              </a:lnSpc>
              <a:spcBef>
                <a:spcPts val="0"/>
              </a:spcBef>
              <a:spcAft>
                <a:spcPts val="0"/>
              </a:spcAft>
              <a:buNone/>
            </a:pPr>
            <a:r>
              <a:rPr lang="en-GB" sz="900">
                <a:solidFill>
                  <a:srgbClr val="BDD0E8"/>
                </a:solidFill>
              </a:rPr>
              <a:t>12</a:t>
            </a:r>
            <a:endParaRPr sz="900">
              <a:solidFill>
                <a:srgbClr val="BDD0E8"/>
              </a:solidFill>
            </a:endParaRPr>
          </a:p>
        </p:txBody>
      </p:sp>
      <p:sp>
        <p:nvSpPr>
          <p:cNvPr id="275" name="Google Shape;275;p24"/>
          <p:cNvSpPr/>
          <p:nvPr/>
        </p:nvSpPr>
        <p:spPr>
          <a:xfrm>
            <a:off x="457200" y="1981200"/>
            <a:ext cx="4064100" cy="800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4400">
                <a:solidFill>
                  <a:srgbClr val="8FB4EB"/>
                </a:solidFill>
              </a:rPr>
              <a:t>2.61%</a:t>
            </a:r>
            <a:endParaRPr b="1" sz="4400">
              <a:solidFill>
                <a:srgbClr val="8FB4EB"/>
              </a:solidFill>
            </a:endParaRPr>
          </a:p>
        </p:txBody>
      </p:sp>
      <p:sp>
        <p:nvSpPr>
          <p:cNvPr id="276" name="Google Shape;276;p24"/>
          <p:cNvSpPr/>
          <p:nvPr/>
        </p:nvSpPr>
        <p:spPr>
          <a:xfrm>
            <a:off x="508000" y="2806700"/>
            <a:ext cx="4317900" cy="3555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700">
                <a:solidFill>
                  <a:srgbClr val="FFFFFF"/>
                </a:solidFill>
              </a:rPr>
              <a:t>Furniture profit margin</a:t>
            </a:r>
            <a:endParaRPr sz="1700">
              <a:solidFill>
                <a:srgbClr val="FFFFFF"/>
              </a:solidFill>
            </a:endParaRPr>
          </a:p>
        </p:txBody>
      </p:sp>
      <p:sp>
        <p:nvSpPr>
          <p:cNvPr id="277" name="Google Shape;277;p24"/>
          <p:cNvSpPr/>
          <p:nvPr/>
        </p:nvSpPr>
        <p:spPr>
          <a:xfrm>
            <a:off x="457200" y="3505200"/>
            <a:ext cx="4279800" cy="774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3600">
                <a:solidFill>
                  <a:srgbClr val="EDAAA5"/>
                </a:solidFill>
              </a:rPr>
              <a:t>−11,086.15</a:t>
            </a:r>
            <a:endParaRPr b="1" sz="3600">
              <a:solidFill>
                <a:srgbClr val="EDAAA5"/>
              </a:solidFill>
            </a:endParaRPr>
          </a:p>
        </p:txBody>
      </p:sp>
      <p:sp>
        <p:nvSpPr>
          <p:cNvPr id="278" name="Google Shape;278;p24"/>
          <p:cNvSpPr/>
          <p:nvPr/>
        </p:nvSpPr>
        <p:spPr>
          <a:xfrm>
            <a:off x="508000" y="4254500"/>
            <a:ext cx="4203600" cy="3303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700">
                <a:solidFill>
                  <a:srgbClr val="FFFFFF"/>
                </a:solidFill>
              </a:rPr>
              <a:t>East Tables profit</a:t>
            </a:r>
            <a:endParaRPr sz="1700">
              <a:solidFill>
                <a:srgbClr val="FFFFFF"/>
              </a:solidFill>
            </a:endParaRPr>
          </a:p>
        </p:txBody>
      </p:sp>
      <p:sp>
        <p:nvSpPr>
          <p:cNvPr id="279" name="Google Shape;279;p24"/>
          <p:cNvSpPr/>
          <p:nvPr/>
        </p:nvSpPr>
        <p:spPr>
          <a:xfrm>
            <a:off x="5397500" y="2095500"/>
            <a:ext cx="3200400" cy="368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b="1" lang="en-GB" sz="1800">
                <a:solidFill>
                  <a:srgbClr val="FFFFFF"/>
                </a:solidFill>
              </a:rPr>
              <a:t>The next decision</a:t>
            </a:r>
            <a:endParaRPr b="1" sz="1800">
              <a:solidFill>
                <a:srgbClr val="FFFFFF"/>
              </a:solidFill>
            </a:endParaRPr>
          </a:p>
        </p:txBody>
      </p:sp>
      <p:sp>
        <p:nvSpPr>
          <p:cNvPr id="280" name="Google Shape;280;p24"/>
          <p:cNvSpPr/>
          <p:nvPr/>
        </p:nvSpPr>
        <p:spPr>
          <a:xfrm>
            <a:off x="5397500" y="2667000"/>
            <a:ext cx="3174900" cy="129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800">
                <a:solidFill>
                  <a:srgbClr val="BDD0E8"/>
                </a:solidFill>
              </a:rPr>
              <a:t>Audit pricing and costs.</a:t>
            </a:r>
            <a:endParaRPr sz="1800">
              <a:solidFill>
                <a:srgbClr val="BDD0E8"/>
              </a:solidFill>
            </a:endParaRPr>
          </a:p>
          <a:p>
            <a:pPr indent="0" lvl="0" marL="0" rtl="0" algn="l">
              <a:lnSpc>
                <a:spcPct val="112000"/>
              </a:lnSpc>
              <a:spcBef>
                <a:spcPts val="0"/>
              </a:spcBef>
              <a:spcAft>
                <a:spcPts val="0"/>
              </a:spcAft>
              <a:buNone/>
            </a:pPr>
            <a:r>
              <a:rPr lang="en-GB" sz="1800">
                <a:solidFill>
                  <a:srgbClr val="BDD0E8"/>
                </a:solidFill>
              </a:rPr>
              <a:t>Review discount rules before</a:t>
            </a:r>
            <a:endParaRPr sz="1800">
              <a:solidFill>
                <a:srgbClr val="BDD0E8"/>
              </a:solidFill>
            </a:endParaRPr>
          </a:p>
          <a:p>
            <a:pPr indent="0" lvl="0" marL="0" rtl="0" algn="l">
              <a:lnSpc>
                <a:spcPct val="112000"/>
              </a:lnSpc>
              <a:spcBef>
                <a:spcPts val="0"/>
              </a:spcBef>
              <a:spcAft>
                <a:spcPts val="0"/>
              </a:spcAft>
              <a:buNone/>
            </a:pPr>
            <a:r>
              <a:rPr lang="en-GB" sz="1800">
                <a:solidFill>
                  <a:srgbClr val="BDD0E8"/>
                </a:solidFill>
              </a:rPr>
              <a:t>committing the next promotion.</a:t>
            </a:r>
            <a:endParaRPr sz="1800">
              <a:solidFill>
                <a:srgbClr val="BDD0E8"/>
              </a:solidFill>
            </a:endParaRPr>
          </a:p>
        </p:txBody>
      </p:sp>
      <p:sp>
        <p:nvSpPr>
          <p:cNvPr id="281" name="Google Shape;281;p24"/>
          <p:cNvSpPr/>
          <p:nvPr/>
        </p:nvSpPr>
        <p:spPr>
          <a:xfrm>
            <a:off x="5397500" y="4152900"/>
            <a:ext cx="3174900" cy="5460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300">
                <a:solidFill>
                  <a:srgbClr val="FFFFFF"/>
                </a:solidFill>
              </a:rPr>
              <a:t>Wilshen Aristo Budianto</a:t>
            </a:r>
            <a:endParaRPr sz="1300">
              <a:solidFill>
                <a:srgbClr val="FFFFFF"/>
              </a:solidFill>
            </a:endParaRPr>
          </a:p>
          <a:p>
            <a:pPr indent="0" lvl="0" marL="0" rtl="0" algn="l">
              <a:lnSpc>
                <a:spcPct val="112000"/>
              </a:lnSpc>
              <a:spcBef>
                <a:spcPts val="0"/>
              </a:spcBef>
              <a:spcAft>
                <a:spcPts val="0"/>
              </a:spcAft>
              <a:buNone/>
            </a:pPr>
            <a:r>
              <a:rPr lang="en-GB" sz="1300">
                <a:solidFill>
                  <a:srgbClr val="FFFFFF"/>
                </a:solidFill>
              </a:rPr>
              <a:t>Questions &amp; discussion</a:t>
            </a:r>
            <a:endParaRPr sz="13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